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9" r:id="rId10"/>
    <p:sldId id="262" r:id="rId11"/>
    <p:sldId id="264" r:id="rId12"/>
    <p:sldId id="265" r:id="rId13"/>
    <p:sldId id="270" r:id="rId14"/>
    <p:sldId id="271" r:id="rId15"/>
    <p:sldId id="272" r:id="rId16"/>
    <p:sldId id="278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1" autoAdjust="0"/>
    <p:restoredTop sz="94660"/>
  </p:normalViewPr>
  <p:slideViewPr>
    <p:cSldViewPr snapToGrid="0">
      <p:cViewPr>
        <p:scale>
          <a:sx n="60" d="100"/>
          <a:sy n="60" d="100"/>
        </p:scale>
        <p:origin x="78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C8C01-B142-4DAC-B78F-E84F72EBB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62C429-0F6A-4619-B261-0A00F28AC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A368AE-8743-4249-903E-3CBDCC39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983518-1D60-4A02-8FAD-7C5A7116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8C8316-FF5B-457B-ACEB-D49B6D36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4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91DCF-1D15-4E90-9156-63C12035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E88E5B-E337-4547-A2E9-0E579F917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9957C5-4A26-48AA-881E-037651193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985269-C496-41EF-A8B5-CCDD2E72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357755-19F9-419A-8628-6D36D814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80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DAC6D-024B-4B5C-A4B9-7852EFD1B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A44460-8A6E-4343-B46A-C3DDB686D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834909-113D-467A-9F53-29D578DF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789F3D-8C7E-4AAD-B7DE-D18D44A24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237705-8B23-461E-A9A1-70BA1E64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58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A126D-D6DE-4863-8D48-A21F71C4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C55CE8-FEE0-47C1-86AA-6DFCE00FE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D869C6-9515-4411-8777-39D7A86D3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E80234-6732-4BBF-B683-5A8E8CE6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3A5B2F-231E-464D-8FA8-B3D06508E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C26540-39B5-48DD-80A6-3D942141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13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66775-2A40-46B6-84FF-1E3C61716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926724-9405-4030-87AE-57C836BC6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53AB78-9E23-45C5-8FB2-A8E46180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405B6D-8331-4CFE-9C8C-3D57C8ABA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8F8FF9-C197-4A07-942A-0447FE3025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0341D3-5E3F-423F-BC5F-B0C70289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47B61F3-E82B-49F3-B148-B98C1B37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6765C16-8375-4BA7-B061-62F5B3E7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90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78683-7433-41C1-AEA1-9DF45CFD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25E0BC-9334-43CE-9222-03E40BA2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3AF3938-CA7E-435D-85E3-09994939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B4F7AD-44EE-49DA-8604-630812AD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70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C37F00B-BF72-4259-9E47-62BE3F88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BE2CEE-5A61-49BD-93D6-2951AF72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BD6BE5-8BB9-4023-A689-2EBCAA76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79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D6E2F-5299-474B-9754-11D52344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8EC61-7164-4F32-ADED-FB11BF4A3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7E3065-DCE1-4BA2-884D-013BAAF71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05405A-83A9-46B7-B5C2-6ED49C10E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BB5EF9-ABAD-49EE-8B35-A8E11EE7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3978ED-C0DF-4D45-8112-F5FF7D87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46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CFD61-1BAE-437F-85A7-2B599DC9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50B486-3818-4540-BC24-0F8257575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FF2F85-C6A6-487E-BB1A-D72F00115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6B69C-85F5-4187-BADF-B2A63002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466CBB-3F64-48C0-9CF2-B8D78F93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F70B47-E708-4B8B-B6FA-0A202BCA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09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C669B-C148-466D-984C-92476145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7CEE5C-DA73-421F-A7F2-498E53418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0D9F3B-4548-4165-AC63-C7C95F21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0971AB-C32D-4668-80E2-6CCD80C0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709F6-AE7A-460C-A87A-1F2E086F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16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99D6B3-3683-4933-A560-17DC88D3E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91E0E0-9D9A-40E6-9963-EF5FB4C4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4EE335-33A7-44B2-B26F-3347F8AF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28AFC8-32B9-4146-8605-51A68894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32BF18-98AC-4500-A7B7-7F1D40ED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05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1B487-32DE-4F17-BBFC-CFA10FA4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9DE7F5-C519-4B6E-89C2-A331BA47A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6D9705-273A-4F2D-91AD-D6742F443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AF186-E2C8-4DF4-93FA-6FB35493C8A2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9A8D98-5836-4317-A7CF-B7FBC90FB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8DF21C-306D-4A71-BF9E-421398AE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E709C-71FE-46C3-A12A-38488E449A7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42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51677-05D6-4E3C-8379-CF29F3125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0000FF"/>
                </a:solidFill>
              </a:rPr>
              <a:t>Расчетная работа № 1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8853FF-C89C-40A6-ABFB-6DEA3ED7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03262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FF"/>
                </a:solidFill>
              </a:rPr>
              <a:t>Задача о баскетболисте</a:t>
            </a:r>
          </a:p>
        </p:txBody>
      </p:sp>
    </p:spTree>
    <p:extLst>
      <p:ext uri="{BB962C8B-B14F-4D97-AF65-F5344CB8AC3E}">
        <p14:creationId xmlns:p14="http://schemas.microsoft.com/office/powerpoint/2010/main" val="3779851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B1B18D-9C2F-4E39-9B96-CD46DFF7BCEF}"/>
              </a:ext>
            </a:extLst>
          </p:cNvPr>
          <p:cNvSpPr/>
          <p:nvPr/>
        </p:nvSpPr>
        <p:spPr>
          <a:xfrm>
            <a:off x="1850054" y="1351756"/>
            <a:ext cx="7705725" cy="415448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sz="2200" dirty="0">
                <a:latin typeface="Arial" charset="0"/>
              </a:rPr>
              <a:t>Разработать математическую модель, позволяющую описать полет баскетбольного мяча, брошенного игроком в баскетбольную корзину.</a:t>
            </a:r>
          </a:p>
          <a:p>
            <a:pPr eaLnBrk="1" hangingPunct="1">
              <a:defRPr/>
            </a:pPr>
            <a:r>
              <a:rPr lang="ru-RU" sz="2200" dirty="0">
                <a:latin typeface="Arial" charset="0"/>
              </a:rPr>
              <a:t>Модель должна позволять: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ru-RU" sz="2200" dirty="0">
                <a:latin typeface="Arial" charset="0"/>
              </a:rPr>
              <a:t>вычислять положение мяча в любой момент времени;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ru-RU" sz="2200" dirty="0">
                <a:latin typeface="Arial" charset="0"/>
              </a:rPr>
              <a:t>определять точность попадания мяча в корзину после броска при различных начальных параметрах.</a:t>
            </a:r>
          </a:p>
          <a:p>
            <a:pPr eaLnBrk="1" hangingPunct="1">
              <a:defRPr/>
            </a:pPr>
            <a:r>
              <a:rPr lang="ru-RU" sz="2200" dirty="0">
                <a:latin typeface="Arial" charset="0"/>
              </a:rPr>
              <a:t>Исходные данные: 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ru-RU" sz="2200" dirty="0">
                <a:latin typeface="Arial" charset="0"/>
              </a:rPr>
              <a:t>масса и радиус мяча; 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ru-RU" sz="2200" dirty="0">
                <a:latin typeface="Arial" charset="0"/>
              </a:rPr>
              <a:t>начальные координаты, начальная скорость и угол броска мяча;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ru-RU" sz="2200" dirty="0">
                <a:latin typeface="Arial" charset="0"/>
              </a:rPr>
              <a:t>координаты центра и радиус корзины.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DF99DAEC-F7B2-4A94-AF06-EA77019D6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54" y="548764"/>
            <a:ext cx="7343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dirty="0">
                <a:solidFill>
                  <a:srgbClr val="0000FF"/>
                </a:solidFill>
              </a:rPr>
              <a:t>Содержательная постановка задачи</a:t>
            </a:r>
          </a:p>
        </p:txBody>
      </p:sp>
    </p:spTree>
    <p:extLst>
      <p:ext uri="{BB962C8B-B14F-4D97-AF65-F5344CB8AC3E}">
        <p14:creationId xmlns:p14="http://schemas.microsoft.com/office/powerpoint/2010/main" val="13495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59B519-9821-48C0-8940-B1213F698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54" y="548764"/>
            <a:ext cx="73437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dirty="0">
                <a:solidFill>
                  <a:srgbClr val="0000FF"/>
                </a:solidFill>
              </a:rPr>
              <a:t>Концептуальная постановка задачи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AFA4DD-AB22-4DED-97F5-F5C1A8422FA9}"/>
              </a:ext>
            </a:extLst>
          </p:cNvPr>
          <p:cNvSpPr/>
          <p:nvPr/>
        </p:nvSpPr>
        <p:spPr>
          <a:xfrm>
            <a:off x="653640" y="1283007"/>
            <a:ext cx="8712200" cy="56943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sz="2200" dirty="0">
                <a:latin typeface="Arial" charset="0"/>
              </a:rPr>
              <a:t>Гипотезы:</a:t>
            </a:r>
            <a:endParaRPr lang="en-US" sz="2200" dirty="0">
              <a:latin typeface="Arial" charset="0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ru-RU" sz="2000" dirty="0">
                <a:latin typeface="Arial" charset="0"/>
              </a:rPr>
              <a:t>объектом моделирования является баскетбольный мяч радиуса R;</a:t>
            </a:r>
            <a:endParaRPr lang="en-US" sz="2000" dirty="0">
              <a:latin typeface="Arial" charset="0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ru-RU" sz="2000" dirty="0">
                <a:latin typeface="Arial" charset="0"/>
              </a:rPr>
              <a:t>мяч будем считать материальной точкой массой m, положение которой совпадает с центром масс мяча;</a:t>
            </a:r>
            <a:endParaRPr lang="en-US" sz="2000" dirty="0">
              <a:latin typeface="Arial" charset="0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ru-RU" sz="2000" dirty="0">
                <a:latin typeface="Arial" charset="0"/>
              </a:rPr>
              <a:t>движение происходит в поле сил тяжести с постоянным ускорением свободного падения </a:t>
            </a:r>
            <a:r>
              <a:rPr lang="ru-RU" sz="2000" b="1" i="1" dirty="0">
                <a:latin typeface="Arial" charset="0"/>
              </a:rPr>
              <a:t>g</a:t>
            </a:r>
            <a:r>
              <a:rPr lang="ru-RU" sz="2000" dirty="0">
                <a:latin typeface="Arial" charset="0"/>
              </a:rPr>
              <a:t> и описывается уравнениями классической механики Ньютона;</a:t>
            </a:r>
            <a:endParaRPr lang="en-US" sz="2000" dirty="0">
              <a:latin typeface="Arial" charset="0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ru-RU" sz="2000" dirty="0">
                <a:solidFill>
                  <a:srgbClr val="6600CC"/>
                </a:solidFill>
                <a:latin typeface="Arial" charset="0"/>
              </a:rPr>
              <a:t>движение мяча происходит </a:t>
            </a:r>
            <a:endParaRPr lang="en-US" sz="2000" dirty="0">
              <a:solidFill>
                <a:srgbClr val="6600CC"/>
              </a:solidFill>
              <a:latin typeface="Arial" charset="0"/>
            </a:endParaRPr>
          </a:p>
          <a:p>
            <a:pPr eaLnBrk="1" hangingPunct="1">
              <a:defRPr/>
            </a:pPr>
            <a:r>
              <a:rPr lang="en-US" sz="2000" dirty="0">
                <a:solidFill>
                  <a:srgbClr val="6600CC"/>
                </a:solidFill>
                <a:latin typeface="Arial" charset="0"/>
              </a:rPr>
              <a:t>       </a:t>
            </a:r>
            <a:r>
              <a:rPr lang="ru-RU" sz="2000" dirty="0">
                <a:solidFill>
                  <a:srgbClr val="6600CC"/>
                </a:solidFill>
                <a:latin typeface="Arial" charset="0"/>
              </a:rPr>
              <a:t>в одной плоскости, </a:t>
            </a:r>
            <a:r>
              <a:rPr lang="ru-RU" sz="2000" dirty="0" err="1">
                <a:solidFill>
                  <a:srgbClr val="6600CC"/>
                </a:solidFill>
                <a:latin typeface="Arial" charset="0"/>
              </a:rPr>
              <a:t>перпенди</a:t>
            </a:r>
            <a:r>
              <a:rPr lang="en-US" sz="2000" dirty="0">
                <a:solidFill>
                  <a:srgbClr val="6600CC"/>
                </a:solidFill>
                <a:latin typeface="Arial" charset="0"/>
              </a:rPr>
              <a:t>-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6600CC"/>
                </a:solidFill>
                <a:latin typeface="Arial" charset="0"/>
              </a:rPr>
              <a:t>       </a:t>
            </a:r>
            <a:r>
              <a:rPr lang="ru-RU" sz="2000" dirty="0" err="1">
                <a:solidFill>
                  <a:srgbClr val="6600CC"/>
                </a:solidFill>
                <a:latin typeface="Arial" charset="0"/>
              </a:rPr>
              <a:t>кулярной</a:t>
            </a:r>
            <a:r>
              <a:rPr lang="ru-RU" sz="2000" dirty="0">
                <a:solidFill>
                  <a:srgbClr val="6600CC"/>
                </a:solidFill>
                <a:latin typeface="Arial" charset="0"/>
              </a:rPr>
              <a:t> поверхности Земли </a:t>
            </a:r>
            <a:endParaRPr lang="en-US" sz="2000" dirty="0">
              <a:solidFill>
                <a:srgbClr val="6600CC"/>
              </a:solidFill>
              <a:latin typeface="Arial" charset="0"/>
            </a:endParaRPr>
          </a:p>
          <a:p>
            <a:pPr eaLnBrk="1" hangingPunct="1">
              <a:defRPr/>
            </a:pPr>
            <a:r>
              <a:rPr lang="en-US" sz="2000" dirty="0">
                <a:solidFill>
                  <a:srgbClr val="6600CC"/>
                </a:solidFill>
                <a:latin typeface="Arial" charset="0"/>
              </a:rPr>
              <a:t>       </a:t>
            </a:r>
            <a:r>
              <a:rPr lang="ru-RU" sz="2000" dirty="0">
                <a:solidFill>
                  <a:srgbClr val="6600CC"/>
                </a:solidFill>
                <a:latin typeface="Arial" charset="0"/>
              </a:rPr>
              <a:t>и проходящей через точку </a:t>
            </a:r>
            <a:endParaRPr lang="en-US" sz="2000" dirty="0">
              <a:solidFill>
                <a:srgbClr val="6600CC"/>
              </a:solidFill>
              <a:latin typeface="Arial" charset="0"/>
            </a:endParaRPr>
          </a:p>
          <a:p>
            <a:pPr eaLnBrk="1" hangingPunct="1">
              <a:defRPr/>
            </a:pPr>
            <a:r>
              <a:rPr lang="en-US" sz="2000" dirty="0">
                <a:solidFill>
                  <a:srgbClr val="6600CC"/>
                </a:solidFill>
                <a:latin typeface="Arial" charset="0"/>
              </a:rPr>
              <a:t>       </a:t>
            </a:r>
            <a:r>
              <a:rPr lang="ru-RU" sz="2000" dirty="0">
                <a:solidFill>
                  <a:srgbClr val="6600CC"/>
                </a:solidFill>
                <a:latin typeface="Arial" charset="0"/>
              </a:rPr>
              <a:t>броска и центр корзины;</a:t>
            </a:r>
          </a:p>
          <a:p>
            <a:pPr marL="457200" indent="-457200" eaLnBrk="1" hangingPunct="1">
              <a:buFont typeface="+mj-lt"/>
              <a:buAutoNum type="arabicPeriod" startAt="5"/>
              <a:defRPr/>
            </a:pPr>
            <a:r>
              <a:rPr lang="ru-RU" sz="2000" dirty="0">
                <a:solidFill>
                  <a:srgbClr val="6600CC"/>
                </a:solidFill>
                <a:latin typeface="Arial" charset="0"/>
              </a:rPr>
              <a:t>пренебрегаем сопротивлением</a:t>
            </a:r>
            <a:r>
              <a:rPr lang="en-US" sz="2000" dirty="0">
                <a:solidFill>
                  <a:srgbClr val="6600CC"/>
                </a:solidFill>
                <a:latin typeface="Arial" charset="0"/>
              </a:rPr>
              <a:t> 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6600CC"/>
                </a:solidFill>
                <a:latin typeface="Arial" charset="0"/>
              </a:rPr>
              <a:t>       </a:t>
            </a:r>
            <a:r>
              <a:rPr lang="ru-RU" sz="2000" dirty="0">
                <a:solidFill>
                  <a:srgbClr val="6600CC"/>
                </a:solidFill>
                <a:latin typeface="Arial" charset="0"/>
              </a:rPr>
              <a:t>воздуха и возмущениями, </a:t>
            </a:r>
            <a:endParaRPr lang="en-US" sz="2000" dirty="0">
              <a:solidFill>
                <a:srgbClr val="6600CC"/>
              </a:solidFill>
              <a:latin typeface="Arial" charset="0"/>
            </a:endParaRPr>
          </a:p>
          <a:p>
            <a:pPr eaLnBrk="1" hangingPunct="1">
              <a:defRPr/>
            </a:pPr>
            <a:r>
              <a:rPr lang="en-US" sz="2000" dirty="0">
                <a:solidFill>
                  <a:srgbClr val="6600CC"/>
                </a:solidFill>
                <a:latin typeface="Arial" charset="0"/>
              </a:rPr>
              <a:t>       </a:t>
            </a:r>
            <a:r>
              <a:rPr lang="ru-RU" sz="2000" dirty="0">
                <a:solidFill>
                  <a:srgbClr val="6600CC"/>
                </a:solidFill>
                <a:latin typeface="Arial" charset="0"/>
              </a:rPr>
              <a:t>вызванными собственным </a:t>
            </a:r>
            <a:endParaRPr lang="en-US" sz="2000" dirty="0">
              <a:solidFill>
                <a:srgbClr val="6600CC"/>
              </a:solidFill>
              <a:latin typeface="Arial" charset="0"/>
            </a:endParaRPr>
          </a:p>
          <a:p>
            <a:pPr eaLnBrk="1" hangingPunct="1">
              <a:defRPr/>
            </a:pPr>
            <a:r>
              <a:rPr lang="en-US" sz="2000" dirty="0">
                <a:solidFill>
                  <a:srgbClr val="6600CC"/>
                </a:solidFill>
                <a:latin typeface="Arial" charset="0"/>
              </a:rPr>
              <a:t>       </a:t>
            </a:r>
            <a:r>
              <a:rPr lang="ru-RU" sz="2000" dirty="0">
                <a:solidFill>
                  <a:srgbClr val="6600CC"/>
                </a:solidFill>
                <a:latin typeface="Arial" charset="0"/>
              </a:rPr>
              <a:t>вращением мяча.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ru-RU" sz="2000" dirty="0">
              <a:latin typeface="Arial" charset="0"/>
            </a:endParaRPr>
          </a:p>
          <a:p>
            <a:pPr eaLnBrk="1" hangingPunct="1">
              <a:defRPr/>
            </a:pPr>
            <a:endParaRPr lang="ru-RU" sz="2200" dirty="0">
              <a:latin typeface="Arial" charset="0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CEA8F769-A6AB-4D04-AAA6-691A5B8B8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342" y="3429000"/>
            <a:ext cx="479107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723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4">
            <a:extLst>
              <a:ext uri="{FF2B5EF4-FFF2-40B4-BE49-F238E27FC236}">
                <a16:creationId xmlns:a16="http://schemas.microsoft.com/office/drawing/2014/main" id="{3246F202-6995-43B4-AFC9-8EC4A20E8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271" y="417513"/>
            <a:ext cx="7705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solidFill>
                  <a:srgbClr val="0000FF"/>
                </a:solidFill>
              </a:rPr>
              <a:t>Математическая постановка: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5E7376E5-86AF-4503-9B09-6A89068B5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1013758"/>
            <a:ext cx="3600450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F4F290D-29DF-4A1C-97CC-9D6A3AC105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450988"/>
              </p:ext>
            </p:extLst>
          </p:nvPr>
        </p:nvGraphicFramePr>
        <p:xfrm>
          <a:off x="1316038" y="1477963"/>
          <a:ext cx="33432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92300" imgH="546100" progId="Equation.DSMT4">
                  <p:embed/>
                </p:oleObj>
              </mc:Choice>
              <mc:Fallback>
                <p:oleObj name="Equation" r:id="rId3" imgW="1892300" imgH="546100" progId="Equation.DSMT4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1477963"/>
                        <a:ext cx="3343275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C8458E-A400-413D-800C-5851CF222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3061356"/>
            <a:ext cx="770572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200" dirty="0"/>
              <a:t>В проекциях на оси координат: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9B9F47A4-0846-4A79-B6FE-3D76918C42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041488"/>
              </p:ext>
            </p:extLst>
          </p:nvPr>
        </p:nvGraphicFramePr>
        <p:xfrm>
          <a:off x="1714500" y="3689350"/>
          <a:ext cx="4402138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33600" imgH="635000" progId="Equation.DSMT4">
                  <p:embed/>
                </p:oleObj>
              </mc:Choice>
              <mc:Fallback>
                <p:oleObj name="Equation" r:id="rId5" imgW="2133600" imgH="635000" progId="Equation.DSMT4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3689350"/>
                        <a:ext cx="4402138" cy="1312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EC6ABC-11C4-4A5D-AB9A-4B5915331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5518150"/>
            <a:ext cx="77057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200"/>
              <a:t>Точность броска: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35BF08E-2068-41D7-AEFB-4CB348229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944" y="5518150"/>
            <a:ext cx="57673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200" dirty="0">
                <a:sym typeface="Symbol" panose="05050102010706020507" pitchFamily="18" charset="2"/>
              </a:rPr>
              <a:t></a:t>
            </a:r>
            <a:r>
              <a:rPr lang="ru-RU" altLang="ru-RU" sz="2200" dirty="0"/>
              <a:t> = </a:t>
            </a:r>
            <a:r>
              <a:rPr lang="en-US" altLang="ru-RU" sz="2200" i="1" dirty="0"/>
              <a:t>x</a:t>
            </a:r>
            <a:r>
              <a:rPr lang="ru-RU" altLang="ru-RU" sz="2200" i="1" dirty="0"/>
              <a:t>(</a:t>
            </a:r>
            <a:r>
              <a:rPr lang="en-US" altLang="ru-RU" sz="2200" i="1" dirty="0" err="1"/>
              <a:t>t</a:t>
            </a:r>
            <a:r>
              <a:rPr lang="en-US" altLang="ru-RU" sz="2200" i="1" baseline="-25000" dirty="0" err="1"/>
              <a:t>k</a:t>
            </a:r>
            <a:r>
              <a:rPr lang="ru-RU" altLang="ru-RU" sz="2200" i="1" dirty="0"/>
              <a:t>) – </a:t>
            </a:r>
            <a:r>
              <a:rPr lang="en-US" altLang="ru-RU" sz="2200" i="1" dirty="0" err="1"/>
              <a:t>x</a:t>
            </a:r>
            <a:r>
              <a:rPr lang="en-US" altLang="ru-RU" sz="2200" i="1" baseline="-25000" dirty="0" err="1"/>
              <a:t>k</a:t>
            </a:r>
            <a:r>
              <a:rPr lang="ru-RU" altLang="ru-RU" sz="2200" dirty="0"/>
              <a:t>, где </a:t>
            </a:r>
            <a:r>
              <a:rPr lang="en-US" altLang="ru-RU" sz="2200" i="1" dirty="0" err="1"/>
              <a:t>t</a:t>
            </a:r>
            <a:r>
              <a:rPr lang="en-US" altLang="ru-RU" sz="2200" i="1" baseline="-25000" dirty="0" err="1"/>
              <a:t>k</a:t>
            </a:r>
            <a:r>
              <a:rPr lang="en-US" altLang="ru-RU" sz="2200" dirty="0"/>
              <a:t>  &gt; 0,</a:t>
            </a:r>
            <a:r>
              <a:rPr lang="ru-RU" altLang="ru-RU" sz="2200" dirty="0"/>
              <a:t> </a:t>
            </a:r>
            <a:r>
              <a:rPr lang="en-US" altLang="ru-RU" sz="2200" i="1" dirty="0" err="1"/>
              <a:t>v</a:t>
            </a:r>
            <a:r>
              <a:rPr lang="en-US" altLang="ru-RU" sz="1200" i="1" dirty="0" err="1"/>
              <a:t>y</a:t>
            </a:r>
            <a:r>
              <a:rPr lang="en-US" altLang="ru-RU" sz="2200" dirty="0"/>
              <a:t>(</a:t>
            </a:r>
            <a:r>
              <a:rPr lang="en-US" altLang="ru-RU" sz="2200" i="1" dirty="0" err="1"/>
              <a:t>t</a:t>
            </a:r>
            <a:r>
              <a:rPr lang="en-US" altLang="ru-RU" sz="2200" i="1" baseline="-25000" dirty="0" err="1"/>
              <a:t>k</a:t>
            </a:r>
            <a:r>
              <a:rPr lang="en-US" altLang="ru-RU" sz="2200" dirty="0"/>
              <a:t>) &lt; 0,</a:t>
            </a:r>
            <a:r>
              <a:rPr lang="ru-RU" altLang="ru-RU" sz="2200" dirty="0"/>
              <a:t>  </a:t>
            </a:r>
            <a:r>
              <a:rPr lang="en-US" altLang="ru-RU" sz="2200" i="1" dirty="0"/>
              <a:t>y</a:t>
            </a:r>
            <a:r>
              <a:rPr lang="en-US" altLang="ru-RU" sz="2200" dirty="0"/>
              <a:t>(</a:t>
            </a:r>
            <a:r>
              <a:rPr lang="en-US" altLang="ru-RU" sz="2200" i="1" dirty="0" err="1"/>
              <a:t>t</a:t>
            </a:r>
            <a:r>
              <a:rPr lang="en-US" altLang="ru-RU" sz="2200" i="1" baseline="-25000" dirty="0" err="1"/>
              <a:t>k</a:t>
            </a:r>
            <a:r>
              <a:rPr lang="en-US" altLang="ru-RU" sz="2200" dirty="0"/>
              <a:t>) = </a:t>
            </a:r>
            <a:r>
              <a:rPr lang="en-US" altLang="ru-RU" sz="2200" i="1" dirty="0" err="1"/>
              <a:t>y</a:t>
            </a:r>
            <a:r>
              <a:rPr lang="en-US" altLang="ru-RU" sz="2200" i="1" baseline="-25000" dirty="0" err="1"/>
              <a:t>k</a:t>
            </a:r>
            <a:r>
              <a:rPr lang="en-US" altLang="ru-RU" sz="2200" dirty="0"/>
              <a:t>.</a:t>
            </a:r>
            <a:endParaRPr lang="ru-RU" altLang="ru-RU" sz="2200" dirty="0"/>
          </a:p>
        </p:txBody>
      </p:sp>
    </p:spTree>
    <p:extLst>
      <p:ext uri="{BB962C8B-B14F-4D97-AF65-F5344CB8AC3E}">
        <p14:creationId xmlns:p14="http://schemas.microsoft.com/office/powerpoint/2010/main" val="238438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A9FB35-7447-4746-99C9-3033853670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11" y="147667"/>
            <a:ext cx="4004263" cy="302428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B745849-ABB8-42F0-971C-BF91379D8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949" y="3322944"/>
            <a:ext cx="51849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/>
              <a:t>Рис. Схема к оценке точности броска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2C0D00-4D56-4015-9FF2-18639ACDCA4A}"/>
                  </a:ext>
                </a:extLst>
              </p:cNvPr>
              <p:cNvSpPr txBox="1"/>
              <p:nvPr/>
            </p:nvSpPr>
            <p:spPr>
              <a:xfrm>
                <a:off x="5099255" y="746740"/>
                <a:ext cx="6098458" cy="913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0215"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Момент попадания мяча в кольцо:</a:t>
                </a:r>
              </a:p>
              <a:p>
                <a:pPr indent="450215"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  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62C0D00-4D56-4015-9FF2-18639ACDC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255" y="746740"/>
                <a:ext cx="6098458" cy="913070"/>
              </a:xfrm>
              <a:prstGeom prst="rect">
                <a:avLst/>
              </a:prstGeom>
              <a:blipFill>
                <a:blip r:embed="rId3" cstate="print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B5EAFC-889E-421B-9931-326399BFFA19}"/>
                  </a:ext>
                </a:extLst>
              </p:cNvPr>
              <p:cNvSpPr txBox="1"/>
              <p:nvPr/>
            </p:nvSpPr>
            <p:spPr>
              <a:xfrm>
                <a:off x="5349619" y="2280191"/>
                <a:ext cx="6098458" cy="2485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0215"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Точность броска:</a:t>
                </a:r>
              </a:p>
              <a:p>
                <a:pPr indent="450215"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–</m:t>
                          </m:r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ru-RU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где</a:t>
                </a:r>
              </a:p>
              <a:p>
                <a:pPr indent="450215"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– 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lit/>
                        </m:rP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𝜑</m:t>
                      </m:r>
                    </m:oMath>
                  </m:oMathPara>
                </a14:m>
                <a:endParaRPr lang="ru-RU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𝜑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𝑎𝑟𝑐𝑡𝑔</m:t>
                      </m:r>
                      <m:f>
                        <m:f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0B5EAFC-889E-421B-9931-326399BFF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619" y="2280191"/>
                <a:ext cx="6098458" cy="2485617"/>
              </a:xfrm>
              <a:prstGeom prst="rect">
                <a:avLst/>
              </a:prstGeom>
              <a:blipFill>
                <a:blip r:embed="rId4" cstate="print"/>
                <a:stretch>
                  <a:fillRect t="-12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424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4">
            <a:extLst>
              <a:ext uri="{FF2B5EF4-FFF2-40B4-BE49-F238E27FC236}">
                <a16:creationId xmlns:a16="http://schemas.microsoft.com/office/drawing/2014/main" id="{23D9360C-4AC0-4898-82C1-3134FC76B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6109" y="155654"/>
            <a:ext cx="32868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dirty="0">
                <a:solidFill>
                  <a:srgbClr val="0000FF"/>
                </a:solidFill>
              </a:rPr>
              <a:t>Эффект Магнуса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AF0F38-104E-4FB9-AF4A-61D53F799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119" y="623078"/>
            <a:ext cx="32868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400" dirty="0">
                <a:solidFill>
                  <a:srgbClr val="0000FF"/>
                </a:solidFill>
              </a:rPr>
              <a:t>«Крученый мяч»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564221-B0B4-430B-9487-EDFFF1F0E4F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547" y="1084743"/>
            <a:ext cx="7179980" cy="42268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E3F2DD-AAAB-44EE-85FE-63322DF28164}"/>
              </a:ext>
            </a:extLst>
          </p:cNvPr>
          <p:cNvSpPr txBox="1"/>
          <p:nvPr/>
        </p:nvSpPr>
        <p:spPr>
          <a:xfrm>
            <a:off x="600142" y="5660640"/>
            <a:ext cx="1113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Возникновение поперечной силы, действующей на тело, вращающееся в набегающем на него потоке  жидкости (газа); открыт нем. учёным Г. Г. Магнусом (Н. G. 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Magnus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) в 1852.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73805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30437C-536F-43A0-9F6C-E0772614F40E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11"/>
          <a:stretch/>
        </p:blipFill>
        <p:spPr bwMode="auto">
          <a:xfrm>
            <a:off x="3235243" y="374501"/>
            <a:ext cx="5939790" cy="35502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6C7ED9-1573-47AF-A6F4-73347D39DFBB}"/>
              </a:ext>
            </a:extLst>
          </p:cNvPr>
          <p:cNvSpPr txBox="1"/>
          <p:nvPr/>
        </p:nvSpPr>
        <p:spPr>
          <a:xfrm>
            <a:off x="309162" y="3931426"/>
            <a:ext cx="1137156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     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Если вращающийся шар обтекает безвихревой поток, то вследствие вязкости жидкости </a:t>
            </a:r>
          </a:p>
          <a:p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скорость течения со стороны, где направления скорости  потока и вращения цилиндра </a:t>
            </a:r>
          </a:p>
          <a:p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совпадают (рис.), увеличивается, а со стороны, где они противоположны, уменьшается. </a:t>
            </a:r>
          </a:p>
          <a:p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В результате давление на одной стороне возрастает, а на другой уменьшается, </a:t>
            </a:r>
          </a:p>
          <a:p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т. е. появляется поперечная сила</a:t>
            </a: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F3F46E-74CF-4103-8B10-C18BDBC232F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71584" y="5405427"/>
            <a:ext cx="6098458" cy="394210"/>
          </a:xfrm>
          <a:prstGeom prst="rect">
            <a:avLst/>
          </a:prstGeom>
          <a:blipFill>
            <a:blip r:embed="rId3" cstate="print"/>
            <a:stretch>
              <a:fillRect b="-4688"/>
            </a:stretch>
          </a:blipFill>
        </p:spPr>
        <p:txBody>
          <a:bodyPr/>
          <a:lstStyle/>
          <a:p>
            <a:r>
              <a:rPr lang="ru-RU" sz="2400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61542-6C46-4C46-B09F-B806939E5FB2}"/>
                  </a:ext>
                </a:extLst>
              </p:cNvPr>
              <p:cNvSpPr txBox="1"/>
              <p:nvPr/>
            </p:nvSpPr>
            <p:spPr>
              <a:xfrm>
                <a:off x="360504" y="5799637"/>
                <a:ext cx="8226467" cy="8379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540385" algn="just"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объем мяча,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ср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плотность воздуха</a:t>
                </a:r>
                <a:endParaRPr lang="ru-R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-540385" algn="just"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𝐯</m:t>
                    </m:r>
                  </m:oMath>
                </a14:m>
                <a:r>
                  <a:rPr lang="ru-RU" sz="2000" b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скорость набегающего потока, </a:t>
                </a:r>
                <a14:m>
                  <m:oMath xmlns:m="http://schemas.openxmlformats.org/officeDocument/2006/math"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𝝎</m:t>
                    </m:r>
                  </m:oMath>
                </a14:m>
                <a:r>
                  <a:rPr lang="ru-RU" sz="2000" b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угловая скорость вращения мяча</a:t>
                </a:r>
                <a:endParaRPr lang="ru-R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F4E61542-6C46-4C46-B09F-B806939E5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04" y="5799637"/>
                <a:ext cx="8226467" cy="837986"/>
              </a:xfrm>
              <a:prstGeom prst="rect">
                <a:avLst/>
              </a:prstGeom>
              <a:blipFill>
                <a:blip r:embed="rId4" cstate="print"/>
                <a:stretch>
                  <a:fillRect t="-2899" b="-115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103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4">
            <a:extLst>
              <a:ext uri="{FF2B5EF4-FFF2-40B4-BE49-F238E27FC236}">
                <a16:creationId xmlns:a16="http://schemas.microsoft.com/office/drawing/2014/main" id="{3246F202-6995-43B4-AFC9-8EC4A20E8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2" y="284510"/>
            <a:ext cx="1133856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ru-RU" altLang="ru-RU" sz="2800" dirty="0">
                <a:solidFill>
                  <a:srgbClr val="0000FF"/>
                </a:solidFill>
              </a:rPr>
              <a:t>Математическая постановка</a:t>
            </a:r>
            <a:r>
              <a:rPr lang="en-US" altLang="ru-RU" sz="2800" dirty="0">
                <a:solidFill>
                  <a:srgbClr val="0000FF"/>
                </a:solidFill>
              </a:rPr>
              <a:t> </a:t>
            </a:r>
            <a:r>
              <a:rPr lang="ru-RU" sz="2800" dirty="0">
                <a:solidFill>
                  <a:srgbClr val="0000FF"/>
                </a:solidFill>
              </a:rPr>
              <a:t>задачи движения мяча с учетом силы сопротивления и эффекта Магнуса</a:t>
            </a:r>
            <a:r>
              <a:rPr lang="ru-RU" altLang="ru-RU" sz="2800" dirty="0">
                <a:solidFill>
                  <a:srgbClr val="0000FF"/>
                </a:solidFill>
              </a:rPr>
              <a:t>: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25091" y="2136371"/>
            <a:ext cx="3998610" cy="533148"/>
          </a:xfrm>
          <a:prstGeom prst="rect">
            <a:avLst/>
          </a:prstGeom>
          <a:noFill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78182" y="2896986"/>
            <a:ext cx="2310308" cy="533148"/>
          </a:xfrm>
          <a:prstGeom prst="rect">
            <a:avLst/>
          </a:prstGeom>
          <a:noFill/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38007" y="2917767"/>
            <a:ext cx="2710169" cy="488719"/>
          </a:xfrm>
          <a:prstGeom prst="rect">
            <a:avLst/>
          </a:prstGeom>
          <a:noFill/>
        </p:spPr>
      </p:pic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08467" y="4415791"/>
            <a:ext cx="3732036" cy="488719"/>
          </a:xfrm>
          <a:prstGeom prst="rect">
            <a:avLst/>
          </a:prstGeom>
          <a:noFill/>
        </p:spPr>
      </p:pic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396539" y="1510685"/>
            <a:ext cx="59045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Уравнение движения в векторном виде: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6858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1429789" y="2721869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1546168" y="3809202"/>
            <a:ext cx="363285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Начальные условия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:</a:t>
            </a:r>
            <a:endParaRPr kumimoji="0" 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114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11432" y="3826797"/>
            <a:ext cx="4794891" cy="416947"/>
          </a:xfrm>
          <a:prstGeom prst="rect">
            <a:avLst/>
          </a:prstGeom>
          <a:noFill/>
        </p:spPr>
      </p:pic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28058" y="4501861"/>
            <a:ext cx="5136029" cy="435899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510" name="Rectangle 6"/>
              <p:cNvSpPr>
                <a:spLocks noChangeArrowheads="1"/>
              </p:cNvSpPr>
              <p:nvPr/>
            </p:nvSpPr>
            <p:spPr bwMode="auto">
              <a:xfrm>
                <a:off x="631766" y="227195"/>
                <a:ext cx="7229608" cy="12295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Уравнения движения в проекциях на оси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:</a:t>
                </a:r>
                <a:endParaRPr kumimoji="0" lang="ru-RU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Times New Roman" pitchFamily="18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ru-RU" sz="2400" dirty="0">
                  <a:latin typeface="Arial" pitchFamily="34" charset="0"/>
                  <a:cs typeface="Times New Roman" pitchFamily="18" charset="0"/>
                </a:endParaRPr>
              </a:p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24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             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̈"/>
                        <m:ctrlP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=−</m:t>
                    </m:r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b>
                      <m:sSubPr>
                        <m:ctrlP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)≡</m:t>
                    </m:r>
                    <m:sSub>
                      <m:sSubPr>
                        <m:ctrlP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̇"/>
                        <m:ctrlP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̇"/>
                        <m:ctrlP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̇"/>
                        <m:ctrlP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ru-RU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2151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1766" y="227195"/>
                <a:ext cx="7229608" cy="1229504"/>
              </a:xfrm>
              <a:prstGeom prst="rect">
                <a:avLst/>
              </a:prstGeom>
              <a:blipFill>
                <a:blip r:embed="rId4"/>
                <a:stretch>
                  <a:fillRect l="-1349" t="-2970" b="-445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6762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781396" y="3034858"/>
            <a:ext cx="31370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Начальные условия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: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0" y="225742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1516" name="Picture 12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45672" y="1579418"/>
            <a:ext cx="6158651" cy="498764"/>
          </a:xfrm>
          <a:prstGeom prst="rect">
            <a:avLst/>
          </a:prstGeom>
          <a:noFill/>
        </p:spPr>
      </p:pic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1518" name="Picture 1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42341" y="2310938"/>
            <a:ext cx="6364235" cy="4821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5114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246B92A1-9C2D-4381-A3C8-C37807A53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16" y="1339195"/>
            <a:ext cx="92841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cs typeface="Arial" panose="020B0604020202020204" pitchFamily="34" charset="0"/>
              </a:rPr>
              <a:t>      Требуется найти функцию  </a:t>
            </a:r>
            <a:r>
              <a:rPr lang="en-US" altLang="ru-RU" sz="2000" dirty="0">
                <a:cs typeface="Arial" panose="020B0604020202020204" pitchFamily="34" charset="0"/>
              </a:rPr>
              <a:t>y(t)</a:t>
            </a:r>
            <a:r>
              <a:rPr lang="ru-RU" altLang="ru-RU" sz="2000" dirty="0">
                <a:cs typeface="Arial" panose="020B0604020202020204" pitchFamily="34" charset="0"/>
              </a:rPr>
              <a:t>, удовлетворяющую дифференциальному уравнению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B264A67D-AA55-4D94-8020-93622B31871B}"/>
                  </a:ext>
                </a:extLst>
              </p:cNvPr>
              <p:cNvSpPr txBox="1"/>
              <p:nvPr/>
            </p:nvSpPr>
            <p:spPr bwMode="auto">
              <a:xfrm>
                <a:off x="2509838" y="2181225"/>
                <a:ext cx="5846371" cy="7858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)), 0&lt;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B264A67D-AA55-4D94-8020-93622B318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9838" y="2181225"/>
                <a:ext cx="5846371" cy="7858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FAEF050-88FD-497B-86CA-F0FFD1F45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636" y="3228945"/>
            <a:ext cx="79478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cs typeface="Arial" panose="020B0604020202020204" pitchFamily="34" charset="0"/>
              </a:rPr>
              <a:t>где </a:t>
            </a:r>
            <a:r>
              <a:rPr lang="en-US" altLang="ru-RU" sz="2000" i="1" dirty="0">
                <a:cs typeface="Arial" panose="020B0604020202020204" pitchFamily="34" charset="0"/>
              </a:rPr>
              <a:t>f</a:t>
            </a:r>
            <a:r>
              <a:rPr lang="ru-RU" altLang="ru-RU" sz="2000" dirty="0">
                <a:cs typeface="Arial" panose="020B0604020202020204" pitchFamily="34" charset="0"/>
              </a:rPr>
              <a:t>(</a:t>
            </a:r>
            <a:r>
              <a:rPr lang="en-US" altLang="ru-RU" sz="2000" i="1" dirty="0">
                <a:cs typeface="Arial" panose="020B0604020202020204" pitchFamily="34" charset="0"/>
              </a:rPr>
              <a:t>t</a:t>
            </a:r>
            <a:r>
              <a:rPr lang="ru-RU" altLang="ru-RU" sz="2000" dirty="0">
                <a:cs typeface="Arial" panose="020B0604020202020204" pitchFamily="34" charset="0"/>
              </a:rPr>
              <a:t>,</a:t>
            </a:r>
            <a:r>
              <a:rPr lang="ru-RU" altLang="ru-RU" sz="2000" i="1" dirty="0">
                <a:cs typeface="Arial" panose="020B0604020202020204" pitchFamily="34" charset="0"/>
              </a:rPr>
              <a:t> </a:t>
            </a:r>
            <a:r>
              <a:rPr lang="en-US" altLang="ru-RU" sz="2000" i="1" dirty="0">
                <a:cs typeface="Arial" panose="020B0604020202020204" pitchFamily="34" charset="0"/>
              </a:rPr>
              <a:t>y</a:t>
            </a:r>
            <a:r>
              <a:rPr lang="ru-RU" altLang="ru-RU" sz="2000" dirty="0">
                <a:cs typeface="Arial" panose="020B0604020202020204" pitchFamily="34" charset="0"/>
              </a:rPr>
              <a:t>(</a:t>
            </a:r>
            <a:r>
              <a:rPr lang="en-US" altLang="ru-RU" sz="2000" i="1" dirty="0">
                <a:cs typeface="Arial" panose="020B0604020202020204" pitchFamily="34" charset="0"/>
              </a:rPr>
              <a:t>t</a:t>
            </a:r>
            <a:r>
              <a:rPr lang="ru-RU" altLang="ru-RU" sz="2000" dirty="0">
                <a:cs typeface="Arial" panose="020B0604020202020204" pitchFamily="34" charset="0"/>
              </a:rPr>
              <a:t>)) – заданная непрерывная функцию двух аргументов. </a:t>
            </a:r>
          </a:p>
        </p:txBody>
      </p:sp>
      <p:sp>
        <p:nvSpPr>
          <p:cNvPr id="10" name="Прямоугольник 4">
            <a:extLst>
              <a:ext uri="{FF2B5EF4-FFF2-40B4-BE49-F238E27FC236}">
                <a16:creationId xmlns:a16="http://schemas.microsoft.com/office/drawing/2014/main" id="{904E45E6-B1D3-4357-B3E2-704F6D5AF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271" y="417513"/>
            <a:ext cx="7705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solidFill>
                  <a:srgbClr val="0000FF"/>
                </a:solidFill>
              </a:rPr>
              <a:t>Численное решение задачи:</a:t>
            </a:r>
          </a:p>
        </p:txBody>
      </p:sp>
    </p:spTree>
    <p:extLst>
      <p:ext uri="{BB962C8B-B14F-4D97-AF65-F5344CB8AC3E}">
        <p14:creationId xmlns:p14="http://schemas.microsoft.com/office/powerpoint/2010/main" val="2740751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Rectangle 2">
            <a:extLst>
              <a:ext uri="{FF2B5EF4-FFF2-40B4-BE49-F238E27FC236}">
                <a16:creationId xmlns:a16="http://schemas.microsoft.com/office/drawing/2014/main" id="{D083498E-1003-4187-AC0D-B62B2CB55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5" y="112713"/>
            <a:ext cx="2706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solidFill>
                  <a:srgbClr val="0000FF"/>
                </a:solidFill>
              </a:rPr>
              <a:t>Метод Эйлера</a:t>
            </a:r>
          </a:p>
        </p:txBody>
      </p:sp>
      <p:sp>
        <p:nvSpPr>
          <p:cNvPr id="8194" name="Object 8">
            <a:extLst>
              <a:ext uri="{FF2B5EF4-FFF2-40B4-BE49-F238E27FC236}">
                <a16:creationId xmlns:a16="http://schemas.microsoft.com/office/drawing/2014/main" id="{D2A86B52-6F35-4C57-864D-45B104D58D7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143250" y="1268413"/>
            <a:ext cx="5545138" cy="901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/>
          <a:lstStyle/>
          <a:p>
            <a:r>
              <a:rPr lang="ru-RU" dirty="0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Object 7">
                <a:extLst>
                  <a:ext uri="{FF2B5EF4-FFF2-40B4-BE49-F238E27FC236}">
                    <a16:creationId xmlns:a16="http://schemas.microsoft.com/office/drawing/2014/main" id="{AED10C1F-13C6-468D-A700-4EAB2E9DE093}"/>
                  </a:ext>
                </a:extLst>
              </p:cNvPr>
              <p:cNvSpPr txBox="1"/>
              <p:nvPr/>
            </p:nvSpPr>
            <p:spPr bwMode="auto">
              <a:xfrm>
                <a:off x="5951538" y="1915083"/>
                <a:ext cx="1042988" cy="5032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8195" name="Object 7">
                <a:extLst>
                  <a:ext uri="{FF2B5EF4-FFF2-40B4-BE49-F238E27FC236}">
                    <a16:creationId xmlns:a16="http://schemas.microsoft.com/office/drawing/2014/main" xmlns="" id="{AED10C1F-13C6-468D-A700-4EAB2E9DE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1538" y="1915083"/>
                <a:ext cx="1042988" cy="503238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7" name="Object 3">
            <a:extLst>
              <a:ext uri="{FF2B5EF4-FFF2-40B4-BE49-F238E27FC236}">
                <a16:creationId xmlns:a16="http://schemas.microsoft.com/office/drawing/2014/main" id="{8A30A1F5-8BD1-4B21-AB3C-D3EFA864734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287713" y="5084763"/>
            <a:ext cx="6192837" cy="476250"/>
          </a:xfrm>
          <a:prstGeom prst="rect">
            <a:avLst/>
          </a:prstGeom>
          <a:blipFill>
            <a:blip r:embed="rId4" cstate="print"/>
            <a:stretch>
              <a:fillRect t="-1282" b="-2564"/>
            </a:stretch>
          </a:blipFill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3B3A4B69-14EB-4A60-B9DE-7F5AF65F53C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774826" y="620713"/>
            <a:ext cx="8353425" cy="641350"/>
          </a:xfrm>
          <a:prstGeom prst="rect">
            <a:avLst/>
          </a:prstGeom>
          <a:blipFill>
            <a:blip r:embed="rId5" cstate="print"/>
            <a:stretch>
              <a:fillRect l="-584" t="-5714" r="-803" b="-15238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2F80BBD7-4A49-49A1-9513-77012DAB7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641" y="1932983"/>
            <a:ext cx="8354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cs typeface="Arial" panose="020B0604020202020204" pitchFamily="34" charset="0"/>
              </a:rPr>
              <a:t>Заменим производную функции в точке                      разностным аналогом: </a:t>
            </a:r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E031ECB0-71F4-42F6-92DD-518DC7A8C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6039" y="3597553"/>
            <a:ext cx="73989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cs typeface="Times New Roman" panose="02020603050405020304" pitchFamily="18" charset="0"/>
              </a:rPr>
              <a:t>Тогда дифференциальное уравнение можно заменить разностным:</a:t>
            </a:r>
            <a:endParaRPr lang="ru-RU" altLang="ru-RU" dirty="0"/>
          </a:p>
        </p:txBody>
      </p: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EB0B1047-1DE3-4B69-B0A5-09381E94E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6038" y="4534178"/>
            <a:ext cx="60908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cs typeface="Times New Roman" panose="02020603050405020304" pitchFamily="18" charset="0"/>
              </a:rPr>
              <a:t>Окончательно вычислительная процедура примет вид </a:t>
            </a:r>
            <a:endParaRPr lang="ru-RU" altLang="ru-RU" dirty="0"/>
          </a:p>
        </p:txBody>
      </p:sp>
      <p:sp>
        <p:nvSpPr>
          <p:cNvPr id="11280" name="Rectangle 16">
            <a:extLst>
              <a:ext uri="{FF2B5EF4-FFF2-40B4-BE49-F238E27FC236}">
                <a16:creationId xmlns:a16="http://schemas.microsoft.com/office/drawing/2014/main" id="{AB3EA6A5-F9D6-48DC-A752-03F2B778E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3025" y="5013326"/>
            <a:ext cx="6408738" cy="720725"/>
          </a:xfrm>
          <a:prstGeom prst="rect">
            <a:avLst/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8" name="Номер слайда 15">
            <a:extLst>
              <a:ext uri="{FF2B5EF4-FFF2-40B4-BE49-F238E27FC236}">
                <a16:creationId xmlns:a16="http://schemas.microsoft.com/office/drawing/2014/main" id="{94C5F230-1914-4113-8831-6B0B47B7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435E09-F467-40F7-A429-36C55F7BB64E}" type="slidenum">
              <a:rPr lang="ru-RU" altLang="ru-RU"/>
              <a:pPr eaLnBrk="1" hangingPunct="1"/>
              <a:t>11</a:t>
            </a:fld>
            <a:endParaRPr lang="ru-RU" alt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6431F0-D872-4E03-9FDF-017D766E3FA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89930" y="2556604"/>
            <a:ext cx="6098458" cy="7935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86989E-769A-470E-8162-888F2D6EB36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95946" y="3983235"/>
            <a:ext cx="6098458" cy="56669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7" grpId="0"/>
      <p:bldP spid="11278" grpId="0"/>
      <p:bldP spid="1128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FA93352-86B7-4085-A083-CDBE63A87DE6}"/>
              </a:ext>
            </a:extLst>
          </p:cNvPr>
          <p:cNvGrpSpPr>
            <a:grpSpLocks/>
          </p:cNvGrpSpPr>
          <p:nvPr/>
        </p:nvGrpSpPr>
        <p:grpSpPr bwMode="auto">
          <a:xfrm>
            <a:off x="2244726" y="1081089"/>
            <a:ext cx="4406797" cy="3122201"/>
            <a:chOff x="621" y="2754"/>
            <a:chExt cx="5399" cy="3961"/>
          </a:xfrm>
        </p:grpSpPr>
        <p:sp>
          <p:nvSpPr>
            <p:cNvPr id="24584" name="Text Box 3">
              <a:extLst>
                <a:ext uri="{FF2B5EF4-FFF2-40B4-BE49-F238E27FC236}">
                  <a16:creationId xmlns:a16="http://schemas.microsoft.com/office/drawing/2014/main" id="{6D660AD4-5BBB-4D6F-A84E-8F36C98FA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1" y="5994"/>
              <a:ext cx="719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ru-RU" sz="2400" i="1" dirty="0">
                  <a:latin typeface="Times New Roman" panose="02020603050405020304" pitchFamily="18" charset="0"/>
                </a:rPr>
                <a:t>t</a:t>
              </a:r>
              <a:endParaRPr lang="ru-RU" altLang="ru-RU" sz="2400" dirty="0"/>
            </a:p>
          </p:txBody>
        </p:sp>
        <p:grpSp>
          <p:nvGrpSpPr>
            <p:cNvPr id="24585" name="Group 4">
              <a:extLst>
                <a:ext uri="{FF2B5EF4-FFF2-40B4-BE49-F238E27FC236}">
                  <a16:creationId xmlns:a16="http://schemas.microsoft.com/office/drawing/2014/main" id="{44E0B976-9395-43F1-8FF4-B1D1F3FF95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" y="2754"/>
              <a:ext cx="4860" cy="3780"/>
              <a:chOff x="981" y="2934"/>
              <a:chExt cx="4860" cy="3780"/>
            </a:xfrm>
          </p:grpSpPr>
          <p:sp>
            <p:nvSpPr>
              <p:cNvPr id="24588" name="Line 5">
                <a:extLst>
                  <a:ext uri="{FF2B5EF4-FFF2-40B4-BE49-F238E27FC236}">
                    <a16:creationId xmlns:a16="http://schemas.microsoft.com/office/drawing/2014/main" id="{5BB8038C-F518-4FD0-9A76-2514838B3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1" y="6353"/>
                <a:ext cx="378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2400"/>
              </a:p>
            </p:txBody>
          </p:sp>
          <p:sp>
            <p:nvSpPr>
              <p:cNvPr id="24589" name="Line 6">
                <a:extLst>
                  <a:ext uri="{FF2B5EF4-FFF2-40B4-BE49-F238E27FC236}">
                    <a16:creationId xmlns:a16="http://schemas.microsoft.com/office/drawing/2014/main" id="{070F6AB7-5D44-43F7-89D7-D736CA0211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352" y="4824"/>
                <a:ext cx="378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2400"/>
              </a:p>
            </p:txBody>
          </p:sp>
          <p:sp>
            <p:nvSpPr>
              <p:cNvPr id="24590" name="Freeform 7">
                <a:extLst>
                  <a:ext uri="{FF2B5EF4-FFF2-40B4-BE49-F238E27FC236}">
                    <a16:creationId xmlns:a16="http://schemas.microsoft.com/office/drawing/2014/main" id="{98785363-D6CC-45DF-B217-5D5DE013C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1" y="3474"/>
                <a:ext cx="3960" cy="2520"/>
              </a:xfrm>
              <a:custGeom>
                <a:avLst/>
                <a:gdLst>
                  <a:gd name="T0" fmla="*/ 0 w 1980"/>
                  <a:gd name="T1" fmla="*/ 2520 h 2520"/>
                  <a:gd name="T2" fmla="*/ 11520 w 1980"/>
                  <a:gd name="T3" fmla="*/ 2340 h 2520"/>
                  <a:gd name="T4" fmla="*/ 23040 w 1980"/>
                  <a:gd name="T5" fmla="*/ 1620 h 2520"/>
                  <a:gd name="T6" fmla="*/ 31680 w 1980"/>
                  <a:gd name="T7" fmla="*/ 0 h 25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80"/>
                  <a:gd name="T13" fmla="*/ 0 h 2520"/>
                  <a:gd name="T14" fmla="*/ 1980 w 1980"/>
                  <a:gd name="T15" fmla="*/ 2520 h 25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80" h="2520">
                    <a:moveTo>
                      <a:pt x="0" y="2520"/>
                    </a:moveTo>
                    <a:cubicBezTo>
                      <a:pt x="240" y="2505"/>
                      <a:pt x="480" y="2490"/>
                      <a:pt x="720" y="2340"/>
                    </a:cubicBezTo>
                    <a:cubicBezTo>
                      <a:pt x="960" y="2190"/>
                      <a:pt x="1230" y="2010"/>
                      <a:pt x="1440" y="1620"/>
                    </a:cubicBezTo>
                    <a:cubicBezTo>
                      <a:pt x="1650" y="1230"/>
                      <a:pt x="1890" y="270"/>
                      <a:pt x="1980" y="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 sz="2400"/>
              </a:p>
            </p:txBody>
          </p:sp>
          <p:sp>
            <p:nvSpPr>
              <p:cNvPr id="24591" name="Text Box 8">
                <a:extLst>
                  <a:ext uri="{FF2B5EF4-FFF2-40B4-BE49-F238E27FC236}">
                    <a16:creationId xmlns:a16="http://schemas.microsoft.com/office/drawing/2014/main" id="{733D1B71-8655-4733-B51F-C40A289A1E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1" y="2934"/>
                <a:ext cx="72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ru-RU" sz="2400" i="1">
                    <a:latin typeface="Times New Roman" panose="02020603050405020304" pitchFamily="18" charset="0"/>
                  </a:rPr>
                  <a:t>y</a:t>
                </a:r>
                <a:endParaRPr lang="ru-RU" altLang="ru-RU" sz="2400"/>
              </a:p>
            </p:txBody>
          </p:sp>
          <p:sp>
            <p:nvSpPr>
              <p:cNvPr id="24592" name="Line 9">
                <a:extLst>
                  <a:ext uri="{FF2B5EF4-FFF2-40B4-BE49-F238E27FC236}">
                    <a16:creationId xmlns:a16="http://schemas.microsoft.com/office/drawing/2014/main" id="{CCEF950E-6321-4D50-BCD5-454D3608E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1" y="5814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2400"/>
              </a:p>
            </p:txBody>
          </p:sp>
          <p:sp>
            <p:nvSpPr>
              <p:cNvPr id="24593" name="Line 10">
                <a:extLst>
                  <a:ext uri="{FF2B5EF4-FFF2-40B4-BE49-F238E27FC236}">
                    <a16:creationId xmlns:a16="http://schemas.microsoft.com/office/drawing/2014/main" id="{58135C07-F12D-4997-98D9-2CE6DC6AD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25" y="4914"/>
                <a:ext cx="16" cy="14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2400"/>
              </a:p>
            </p:txBody>
          </p:sp>
          <p:sp>
            <p:nvSpPr>
              <p:cNvPr id="24594" name="Line 11">
                <a:extLst>
                  <a:ext uri="{FF2B5EF4-FFF2-40B4-BE49-F238E27FC236}">
                    <a16:creationId xmlns:a16="http://schemas.microsoft.com/office/drawing/2014/main" id="{3AF3013B-3897-43ED-82F5-A610AD88C2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2675" y="5348"/>
                <a:ext cx="16" cy="91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2400"/>
              </a:p>
            </p:txBody>
          </p:sp>
          <p:sp>
            <p:nvSpPr>
              <p:cNvPr id="24595" name="Line 12">
                <a:extLst>
                  <a:ext uri="{FF2B5EF4-FFF2-40B4-BE49-F238E27FC236}">
                    <a16:creationId xmlns:a16="http://schemas.microsoft.com/office/drawing/2014/main" id="{0E36DF2B-4FDA-44D8-AF31-93049588A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 flipH="1" flipV="1">
                <a:off x="3582" y="3556"/>
                <a:ext cx="1" cy="271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2400"/>
              </a:p>
            </p:txBody>
          </p:sp>
          <p:sp>
            <p:nvSpPr>
              <p:cNvPr id="24596" name="Text Box 13">
                <a:extLst>
                  <a:ext uri="{FF2B5EF4-FFF2-40B4-BE49-F238E27FC236}">
                    <a16:creationId xmlns:a16="http://schemas.microsoft.com/office/drawing/2014/main" id="{057F1CBF-DCB5-4828-9DC2-4DE06F906B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1" y="4538"/>
                <a:ext cx="1620" cy="7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ru-RU" sz="2400" i="1" dirty="0">
                    <a:latin typeface="Times New Roman" panose="02020603050405020304" pitchFamily="18" charset="0"/>
                  </a:rPr>
                  <a:t>y(t</a:t>
                </a:r>
                <a:r>
                  <a:rPr lang="en-US" altLang="ru-RU" sz="2400" i="1" baseline="-25000" dirty="0">
                    <a:latin typeface="Times New Roman" panose="02020603050405020304" pitchFamily="18" charset="0"/>
                  </a:rPr>
                  <a:t>k</a:t>
                </a:r>
                <a:r>
                  <a:rPr lang="en-US" altLang="ru-RU" sz="2400" baseline="-25000" dirty="0">
                    <a:latin typeface="Times New Roman" panose="02020603050405020304" pitchFamily="18" charset="0"/>
                  </a:rPr>
                  <a:t>+1</a:t>
                </a:r>
                <a:r>
                  <a:rPr lang="en-US" altLang="ru-RU" sz="2400" dirty="0">
                    <a:latin typeface="Times New Roman" panose="02020603050405020304" pitchFamily="18" charset="0"/>
                  </a:rPr>
                  <a:t>)</a:t>
                </a:r>
                <a:endParaRPr lang="ru-RU" altLang="ru-RU" sz="2400" dirty="0"/>
              </a:p>
            </p:txBody>
          </p:sp>
          <p:sp>
            <p:nvSpPr>
              <p:cNvPr id="24597" name="Text Box 14">
                <a:extLst>
                  <a:ext uri="{FF2B5EF4-FFF2-40B4-BE49-F238E27FC236}">
                    <a16:creationId xmlns:a16="http://schemas.microsoft.com/office/drawing/2014/main" id="{98D13C3A-58DE-4C82-95B6-60CA6290FC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8" y="5439"/>
                <a:ext cx="1063" cy="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ru-RU" sz="2400" i="1" dirty="0">
                    <a:latin typeface="Times New Roman" panose="02020603050405020304" pitchFamily="18" charset="0"/>
                  </a:rPr>
                  <a:t>y(</a:t>
                </a:r>
                <a:r>
                  <a:rPr lang="en-US" altLang="ru-RU" sz="2400" i="1" dirty="0" err="1">
                    <a:latin typeface="Times New Roman" panose="02020603050405020304" pitchFamily="18" charset="0"/>
                  </a:rPr>
                  <a:t>t</a:t>
                </a:r>
                <a:r>
                  <a:rPr lang="en-US" altLang="ru-RU" sz="2400" i="1" baseline="-25000" dirty="0" err="1">
                    <a:latin typeface="Times New Roman" panose="02020603050405020304" pitchFamily="18" charset="0"/>
                  </a:rPr>
                  <a:t>k</a:t>
                </a:r>
                <a:r>
                  <a:rPr lang="en-US" altLang="ru-RU" sz="2400" i="1" dirty="0">
                    <a:latin typeface="Times New Roman" panose="02020603050405020304" pitchFamily="18" charset="0"/>
                  </a:rPr>
                  <a:t>)</a:t>
                </a:r>
                <a:endParaRPr lang="ru-RU" altLang="ru-RU" sz="2400" dirty="0"/>
              </a:p>
            </p:txBody>
          </p:sp>
        </p:grpSp>
        <p:sp>
          <p:nvSpPr>
            <p:cNvPr id="24586" name="Text Box 15">
              <a:extLst>
                <a:ext uri="{FF2B5EF4-FFF2-40B4-BE49-F238E27FC236}">
                  <a16:creationId xmlns:a16="http://schemas.microsoft.com/office/drawing/2014/main" id="{0D3A7466-77C4-4DAA-8E48-2E252B2AF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2" y="5994"/>
              <a:ext cx="719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ru-RU" sz="2400" i="1" dirty="0" err="1">
                  <a:latin typeface="Times New Roman" panose="02020603050405020304" pitchFamily="18" charset="0"/>
                </a:rPr>
                <a:t>t</a:t>
              </a:r>
              <a:r>
                <a:rPr lang="en-US" altLang="ru-RU" sz="2400" i="1" baseline="-25000" dirty="0" err="1">
                  <a:latin typeface="Times New Roman" panose="02020603050405020304" pitchFamily="18" charset="0"/>
                </a:rPr>
                <a:t>k</a:t>
              </a:r>
              <a:endParaRPr lang="ru-RU" altLang="ru-RU" sz="2400" dirty="0"/>
            </a:p>
          </p:txBody>
        </p:sp>
        <p:sp>
          <p:nvSpPr>
            <p:cNvPr id="24587" name="Text Box 16">
              <a:extLst>
                <a:ext uri="{FF2B5EF4-FFF2-40B4-BE49-F238E27FC236}">
                  <a16:creationId xmlns:a16="http://schemas.microsoft.com/office/drawing/2014/main" id="{6CE11123-E074-4FC2-8A1E-633422CDA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9" y="5994"/>
              <a:ext cx="1082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ru-RU" sz="2400" i="1" dirty="0">
                  <a:latin typeface="Times New Roman" panose="02020603050405020304" pitchFamily="18" charset="0"/>
                </a:rPr>
                <a:t>t</a:t>
              </a:r>
              <a:r>
                <a:rPr lang="en-US" altLang="ru-RU" sz="2400" i="1" baseline="-25000" dirty="0">
                  <a:latin typeface="Times New Roman" panose="02020603050405020304" pitchFamily="18" charset="0"/>
                </a:rPr>
                <a:t>k</a:t>
              </a:r>
              <a:r>
                <a:rPr lang="en-US" altLang="ru-RU" sz="2400" baseline="-25000" dirty="0">
                  <a:latin typeface="Times New Roman" panose="02020603050405020304" pitchFamily="18" charset="0"/>
                </a:rPr>
                <a:t>+1</a:t>
              </a:r>
              <a:endParaRPr lang="ru-RU" altLang="ru-RU" sz="2400" dirty="0"/>
            </a:p>
          </p:txBody>
        </p:sp>
      </p:grpSp>
      <p:grpSp>
        <p:nvGrpSpPr>
          <p:cNvPr id="4" name="Group 17">
            <a:extLst>
              <a:ext uri="{FF2B5EF4-FFF2-40B4-BE49-F238E27FC236}">
                <a16:creationId xmlns:a16="http://schemas.microsoft.com/office/drawing/2014/main" id="{119187CB-8C67-4D39-8883-0BF5669730C3}"/>
              </a:ext>
            </a:extLst>
          </p:cNvPr>
          <p:cNvGrpSpPr>
            <a:grpSpLocks/>
          </p:cNvGrpSpPr>
          <p:nvPr/>
        </p:nvGrpSpPr>
        <p:grpSpPr bwMode="auto">
          <a:xfrm>
            <a:off x="3792538" y="3114675"/>
            <a:ext cx="1943100" cy="458788"/>
            <a:chOff x="5121" y="5094"/>
            <a:chExt cx="3060" cy="722"/>
          </a:xfrm>
        </p:grpSpPr>
        <p:sp>
          <p:nvSpPr>
            <p:cNvPr id="24582" name="Text Box 18">
              <a:extLst>
                <a:ext uri="{FF2B5EF4-FFF2-40B4-BE49-F238E27FC236}">
                  <a16:creationId xmlns:a16="http://schemas.microsoft.com/office/drawing/2014/main" id="{E5126023-D202-44CD-8AE8-00CDF56E1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1" y="5094"/>
              <a:ext cx="1080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ru-RU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ru-RU" sz="2000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ru-RU" sz="2000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+1</a:t>
              </a:r>
              <a:endParaRPr lang="ru-RU" altLang="ru-RU"/>
            </a:p>
          </p:txBody>
        </p:sp>
        <p:sp>
          <p:nvSpPr>
            <p:cNvPr id="24583" name="Line 19">
              <a:extLst>
                <a:ext uri="{FF2B5EF4-FFF2-40B4-BE49-F238E27FC236}">
                  <a16:creationId xmlns:a16="http://schemas.microsoft.com/office/drawing/2014/main" id="{148BBE4E-752C-4464-AB94-A3FFC5D152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1" y="5094"/>
              <a:ext cx="2520" cy="5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4580" name="Rectangle 20">
            <a:extLst>
              <a:ext uri="{FF2B5EF4-FFF2-40B4-BE49-F238E27FC236}">
                <a16:creationId xmlns:a16="http://schemas.microsoft.com/office/drawing/2014/main" id="{0143A9CA-D926-41CE-86B1-6521B7435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4" y="357338"/>
            <a:ext cx="75121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b="1" dirty="0">
                <a:solidFill>
                  <a:srgbClr val="FF33CC"/>
                </a:solidFill>
              </a:rPr>
              <a:t>Геометрическая интерпретация метода Эйлера </a:t>
            </a:r>
          </a:p>
        </p:txBody>
      </p:sp>
      <p:sp>
        <p:nvSpPr>
          <p:cNvPr id="24581" name="Номер слайда 20">
            <a:extLst>
              <a:ext uri="{FF2B5EF4-FFF2-40B4-BE49-F238E27FC236}">
                <a16:creationId xmlns:a16="http://schemas.microsoft.com/office/drawing/2014/main" id="{BE101006-45F4-41B6-8E9F-F73B0001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A265B5-A376-429C-A96E-94A584D6359A}" type="slidenum">
              <a:rPr lang="ru-RU" altLang="ru-RU"/>
              <a:pPr eaLnBrk="1" hangingPunct="1"/>
              <a:t>12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33726" y="1463040"/>
            <a:ext cx="2191220" cy="698650"/>
          </a:xfrm>
          <a:prstGeom prst="rect">
            <a:avLst/>
          </a:prstGeom>
          <a:noFill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5778" y="1995653"/>
            <a:ext cx="4700013" cy="1238517"/>
          </a:xfrm>
          <a:prstGeom prst="rect">
            <a:avLst/>
          </a:prstGeom>
          <a:noFill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00474" y="3035167"/>
            <a:ext cx="2191224" cy="730408"/>
          </a:xfrm>
          <a:prstGeom prst="rect">
            <a:avLst/>
          </a:prstGeom>
          <a:noFill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19353" y="3533853"/>
            <a:ext cx="4731770" cy="1238517"/>
          </a:xfrm>
          <a:prstGeom prst="rect">
            <a:avLst/>
          </a:prstGeom>
          <a:noFill/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54132" y="4613044"/>
            <a:ext cx="2254734" cy="698650"/>
          </a:xfrm>
          <a:prstGeom prst="rect">
            <a:avLst/>
          </a:prstGeom>
          <a:noFill/>
        </p:spPr>
      </p:pic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74271" y="5170595"/>
            <a:ext cx="4541229" cy="1238517"/>
          </a:xfrm>
          <a:prstGeom prst="rect">
            <a:avLst/>
          </a:prstGeom>
          <a:noFill/>
        </p:spPr>
      </p:pic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504305" y="210326"/>
            <a:ext cx="1126651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     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Чтобы записать расчетную схему метода Эйлера, каждое дифференциальное уравнение второго порядка заменим двумя уравнениями первого порядка: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0" y="66675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0" y="103822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0" y="12573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0" y="16287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0" y="183832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114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77934" y="922714"/>
            <a:ext cx="7042104" cy="1081268"/>
          </a:xfrm>
          <a:prstGeom prst="rect">
            <a:avLst/>
          </a:prstGeom>
          <a:noFill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94561" y="1925956"/>
            <a:ext cx="3354703" cy="609946"/>
          </a:xfrm>
          <a:prstGeom prst="rect">
            <a:avLst/>
          </a:prstGeom>
          <a:noFill/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94559" y="2534516"/>
            <a:ext cx="6875755" cy="1081268"/>
          </a:xfrm>
          <a:prstGeom prst="rect">
            <a:avLst/>
          </a:prstGeom>
          <a:noFill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95053" y="3704013"/>
            <a:ext cx="3576503" cy="637671"/>
          </a:xfrm>
          <a:prstGeom prst="rect">
            <a:avLst/>
          </a:prstGeom>
          <a:noFill/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61310" y="4172470"/>
            <a:ext cx="6792581" cy="1081268"/>
          </a:xfrm>
          <a:prstGeom prst="rect">
            <a:avLst/>
          </a:prstGeom>
          <a:noFill/>
        </p:spPr>
      </p:pic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95055" y="5292090"/>
            <a:ext cx="6764856" cy="609946"/>
          </a:xfrm>
          <a:prstGeom prst="rect">
            <a:avLst/>
          </a:prstGeom>
          <a:noFill/>
        </p:spPr>
      </p:pic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532015" y="596284"/>
            <a:ext cx="42811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Тогда схема метода Эйлера: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0" y="8286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103822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0" y="1409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0" y="162877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0" y="200025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0" y="22098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114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EC6913-2823-455A-B46F-36E0DFB39ED5}"/>
              </a:ext>
            </a:extLst>
          </p:cNvPr>
          <p:cNvSpPr txBox="1"/>
          <p:nvPr/>
        </p:nvSpPr>
        <p:spPr>
          <a:xfrm>
            <a:off x="304523" y="458956"/>
            <a:ext cx="1137156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6600CC"/>
                </a:solidFill>
                <a:latin typeface="Helvetica" panose="020B0604020202020204" pitchFamily="34" charset="0"/>
              </a:rPr>
              <a:t>Задание по Расчетной работе № 1</a:t>
            </a:r>
            <a:endParaRPr lang="ru-RU" sz="20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1. С помощью пакета </a:t>
            </a:r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«</a:t>
            </a:r>
            <a:r>
              <a:rPr lang="en-US" sz="2000" dirty="0">
                <a:solidFill>
                  <a:srgbClr val="000000"/>
                </a:solidFill>
                <a:latin typeface="Helvetica" panose="020B0604020202020204" pitchFamily="34" charset="0"/>
              </a:rPr>
              <a:t>Wolfram Mathematica</a:t>
            </a:r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»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решить задачу движения мяча без учета сопротивления воздуха аналитически. Построить график решения.</a:t>
            </a:r>
          </a:p>
          <a:p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2. Рассмотреть решения при различных значениях начальной скорости и угла бросания. Проверить для них условия попадания в корзину. Результаты оформить в виде таблицы (в тетради):</a:t>
            </a:r>
          </a:p>
          <a:p>
            <a:endParaRPr lang="ru-RU" sz="20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endParaRPr lang="ru-RU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endParaRPr lang="ru-RU" sz="20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endParaRPr lang="ru-RU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endParaRPr lang="ru-RU" sz="20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endParaRPr lang="ru-RU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endParaRPr lang="en-US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pPr marL="457200" indent="-457200">
              <a:buAutoNum type="arabicPeriod" startAt="3"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Повторить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пп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. 1, 2 для случая движения мяча с учетом сопротивления воздуха.</a:t>
            </a:r>
          </a:p>
          <a:p>
            <a:pPr marL="457200" indent="-457200">
              <a:buAutoNum type="arabicPeriod" startAt="3"/>
            </a:pPr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Решить задачу с учетом эффекта Магнуса: </a:t>
            </a:r>
          </a:p>
          <a:p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       -- записать концептуальную и математическую постановки (в тетради);</a:t>
            </a:r>
          </a:p>
          <a:p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       -- решить уравнения движения численно методом Эйлера;</a:t>
            </a:r>
          </a:p>
          <a:p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       -- результаты изобразить графически. </a:t>
            </a:r>
          </a:p>
          <a:p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5.   Построить траектории движения мяча для векторов собственного вращения, направленного вверх, вправо, влево (относительно направления бросания мяча)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39D92EC7-90AA-4725-9981-FE79EFA605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4227426"/>
                  </p:ext>
                </p:extLst>
              </p:nvPr>
            </p:nvGraphicFramePr>
            <p:xfrm>
              <a:off x="675968" y="2515900"/>
              <a:ext cx="10840064" cy="15646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9612">
                      <a:extLst>
                        <a:ext uri="{9D8B030D-6E8A-4147-A177-3AD203B41FA5}">
                          <a16:colId xmlns:a16="http://schemas.microsoft.com/office/drawing/2014/main" val="2204689574"/>
                        </a:ext>
                      </a:extLst>
                    </a:gridCol>
                    <a:gridCol w="2612936">
                      <a:extLst>
                        <a:ext uri="{9D8B030D-6E8A-4147-A177-3AD203B41FA5}">
                          <a16:colId xmlns:a16="http://schemas.microsoft.com/office/drawing/2014/main" val="2639466217"/>
                        </a:ext>
                      </a:extLst>
                    </a:gridCol>
                    <a:gridCol w="2063123">
                      <a:extLst>
                        <a:ext uri="{9D8B030D-6E8A-4147-A177-3AD203B41FA5}">
                          <a16:colId xmlns:a16="http://schemas.microsoft.com/office/drawing/2014/main" val="510823270"/>
                        </a:ext>
                      </a:extLst>
                    </a:gridCol>
                    <a:gridCol w="2774434">
                      <a:extLst>
                        <a:ext uri="{9D8B030D-6E8A-4147-A177-3AD203B41FA5}">
                          <a16:colId xmlns:a16="http://schemas.microsoft.com/office/drawing/2014/main" val="307543400"/>
                        </a:ext>
                      </a:extLst>
                    </a:gridCol>
                    <a:gridCol w="2519959">
                      <a:extLst>
                        <a:ext uri="{9D8B030D-6E8A-4147-A177-3AD203B41FA5}">
                          <a16:colId xmlns:a16="http://schemas.microsoft.com/office/drawing/2014/main" val="18000898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Начальная скорость,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ru-RU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Угол бросания,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Точность броска,</a:t>
                          </a:r>
                        </a:p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  <a:sym typeface="Symbol" panose="05050102010706020507" pitchFamily="18" charset="2"/>
                            </a:rPr>
                            <a:t></a:t>
                          </a:r>
                          <a:r>
                            <a:rPr lang="ru-RU" sz="2400" dirty="0">
                              <a:effectLst/>
                            </a:rPr>
                            <a:t> = </a:t>
                          </a:r>
                          <a:r>
                            <a:rPr lang="en-US" sz="2400" dirty="0">
                              <a:effectLst/>
                            </a:rPr>
                            <a:t>x</a:t>
                          </a:r>
                          <a:r>
                            <a:rPr lang="ru-RU" sz="2400" dirty="0">
                              <a:effectLst/>
                            </a:rPr>
                            <a:t>(</a:t>
                          </a:r>
                          <a:r>
                            <a:rPr lang="en-US" sz="2400" dirty="0" err="1">
                              <a:effectLst/>
                            </a:rPr>
                            <a:t>t</a:t>
                          </a:r>
                          <a:r>
                            <a:rPr lang="en-US" sz="2400" baseline="-25000" dirty="0" err="1">
                              <a:effectLst/>
                            </a:rPr>
                            <a:t>k</a:t>
                          </a:r>
                          <a:r>
                            <a:rPr lang="ru-RU" sz="2400" dirty="0">
                              <a:effectLst/>
                            </a:rPr>
                            <a:t>) – </a:t>
                          </a:r>
                          <a:r>
                            <a:rPr lang="en-US" sz="2400" dirty="0" err="1">
                              <a:effectLst/>
                            </a:rPr>
                            <a:t>x</a:t>
                          </a:r>
                          <a:r>
                            <a:rPr lang="en-US" sz="2400" baseline="-25000" dirty="0" err="1">
                              <a:effectLst/>
                            </a:rPr>
                            <a:t>k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Попадание</a:t>
                          </a:r>
                        </a:p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/непопадание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1012677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1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1775824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2…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198225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39D92EC7-90AA-4725-9981-FE79EFA605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4227426"/>
                  </p:ext>
                </p:extLst>
              </p:nvPr>
            </p:nvGraphicFramePr>
            <p:xfrm>
              <a:off x="675968" y="2515900"/>
              <a:ext cx="10840064" cy="15646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9612">
                      <a:extLst>
                        <a:ext uri="{9D8B030D-6E8A-4147-A177-3AD203B41FA5}">
                          <a16:colId xmlns:a16="http://schemas.microsoft.com/office/drawing/2014/main" val="2204689574"/>
                        </a:ext>
                      </a:extLst>
                    </a:gridCol>
                    <a:gridCol w="2612936">
                      <a:extLst>
                        <a:ext uri="{9D8B030D-6E8A-4147-A177-3AD203B41FA5}">
                          <a16:colId xmlns:a16="http://schemas.microsoft.com/office/drawing/2014/main" val="2639466217"/>
                        </a:ext>
                      </a:extLst>
                    </a:gridCol>
                    <a:gridCol w="2063123">
                      <a:extLst>
                        <a:ext uri="{9D8B030D-6E8A-4147-A177-3AD203B41FA5}">
                          <a16:colId xmlns:a16="http://schemas.microsoft.com/office/drawing/2014/main" val="510823270"/>
                        </a:ext>
                      </a:extLst>
                    </a:gridCol>
                    <a:gridCol w="2774434">
                      <a:extLst>
                        <a:ext uri="{9D8B030D-6E8A-4147-A177-3AD203B41FA5}">
                          <a16:colId xmlns:a16="http://schemas.microsoft.com/office/drawing/2014/main" val="307543400"/>
                        </a:ext>
                      </a:extLst>
                    </a:gridCol>
                    <a:gridCol w="2519959">
                      <a:extLst>
                        <a:ext uri="{9D8B030D-6E8A-4147-A177-3AD203B41FA5}">
                          <a16:colId xmlns:a16="http://schemas.microsoft.com/office/drawing/2014/main" val="1800089807"/>
                        </a:ext>
                      </a:extLst>
                    </a:gridCol>
                  </a:tblGrid>
                  <a:tr h="83312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3566" t="-10949" r="-282517" b="-110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69027" t="-10949" r="-257522" b="-110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Точность броска,</a:t>
                          </a:r>
                        </a:p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  <a:sym typeface="Symbol" panose="05050102010706020507" pitchFamily="18" charset="2"/>
                            </a:rPr>
                            <a:t></a:t>
                          </a:r>
                          <a:r>
                            <a:rPr lang="ru-RU" sz="2400" dirty="0">
                              <a:effectLst/>
                            </a:rPr>
                            <a:t> = </a:t>
                          </a:r>
                          <a:r>
                            <a:rPr lang="en-US" sz="2400" dirty="0">
                              <a:effectLst/>
                            </a:rPr>
                            <a:t>x</a:t>
                          </a:r>
                          <a:r>
                            <a:rPr lang="ru-RU" sz="2400" dirty="0">
                              <a:effectLst/>
                            </a:rPr>
                            <a:t>(</a:t>
                          </a:r>
                          <a:r>
                            <a:rPr lang="en-US" sz="2400" dirty="0" err="1">
                              <a:effectLst/>
                            </a:rPr>
                            <a:t>t</a:t>
                          </a:r>
                          <a:r>
                            <a:rPr lang="en-US" sz="2400" baseline="-25000" dirty="0" err="1">
                              <a:effectLst/>
                            </a:rPr>
                            <a:t>k</a:t>
                          </a:r>
                          <a:r>
                            <a:rPr lang="ru-RU" sz="2400" dirty="0">
                              <a:effectLst/>
                            </a:rPr>
                            <a:t>) – </a:t>
                          </a:r>
                          <a:r>
                            <a:rPr lang="en-US" sz="2400" dirty="0" err="1">
                              <a:effectLst/>
                            </a:rPr>
                            <a:t>x</a:t>
                          </a:r>
                          <a:r>
                            <a:rPr lang="en-US" sz="2400" baseline="-25000" dirty="0" err="1">
                              <a:effectLst/>
                            </a:rPr>
                            <a:t>k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Попадание</a:t>
                          </a:r>
                        </a:p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/непопадание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101267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1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1775824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2…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198225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18742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426B65-C19C-1666-BEE0-482BA959D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045" y="354433"/>
            <a:ext cx="9550137" cy="625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61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65E7581D-D243-AC76-88A3-D44A263F3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09" y="280056"/>
            <a:ext cx="11757710" cy="413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421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19C103A9-E067-983B-47F1-73A82CCDD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55" y="432538"/>
            <a:ext cx="11763295" cy="592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58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документ&#10;&#10;Автоматически созданное описание">
            <a:extLst>
              <a:ext uri="{FF2B5EF4-FFF2-40B4-BE49-F238E27FC236}">
                <a16:creationId xmlns:a16="http://schemas.microsoft.com/office/drawing/2014/main" id="{D4804D7F-367C-CE73-A412-37CC2E8B7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14" y="357865"/>
            <a:ext cx="9469171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2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2E4E30E3-03E6-3207-1DCB-559F5D3D4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0969"/>
            <a:ext cx="10816759" cy="372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360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11045</TotalTime>
  <Words>718</Words>
  <Application>Microsoft Office PowerPoint</Application>
  <PresentationFormat>Широкоэкранный</PresentationFormat>
  <Paragraphs>114</Paragraphs>
  <Slides>20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Helvetica</vt:lpstr>
      <vt:lpstr>Symbol</vt:lpstr>
      <vt:lpstr>Times New Roman</vt:lpstr>
      <vt:lpstr>Тема Office</vt:lpstr>
      <vt:lpstr>Equation</vt:lpstr>
      <vt:lpstr>MathType 7.0 Equation</vt:lpstr>
      <vt:lpstr>Расчетная работа № 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q1nvy</cp:lastModifiedBy>
  <cp:revision>39</cp:revision>
  <dcterms:created xsi:type="dcterms:W3CDTF">2020-09-29T18:08:37Z</dcterms:created>
  <dcterms:modified xsi:type="dcterms:W3CDTF">2025-11-05T16:07:01Z</dcterms:modified>
</cp:coreProperties>
</file>