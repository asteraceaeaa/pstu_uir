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2" r:id="rId2"/>
    <p:sldId id="685" r:id="rId3"/>
    <p:sldId id="257" r:id="rId4"/>
    <p:sldId id="268" r:id="rId5"/>
    <p:sldId id="693" r:id="rId6"/>
    <p:sldId id="694" r:id="rId7"/>
    <p:sldId id="686" r:id="rId8"/>
    <p:sldId id="687" r:id="rId9"/>
    <p:sldId id="688" r:id="rId10"/>
    <p:sldId id="689" r:id="rId11"/>
    <p:sldId id="692" r:id="rId12"/>
    <p:sldId id="695" r:id="rId13"/>
    <p:sldId id="696" r:id="rId14"/>
    <p:sldId id="699" r:id="rId15"/>
    <p:sldId id="697" r:id="rId16"/>
    <p:sldId id="698" r:id="rId17"/>
    <p:sldId id="700" r:id="rId18"/>
    <p:sldId id="701" r:id="rId19"/>
    <p:sldId id="702" r:id="rId20"/>
    <p:sldId id="703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ED1252-3436-4EFB-B345-983034229807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E2A86-0227-4AA6-9634-55954B2DF4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498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4580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6D0ECD-052E-4E6F-AEB8-45E6E62B3159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80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EDEAF-7A4F-4B05-8A50-9985E7610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1282CD5-F7B2-405B-BEF9-E91950F6C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8F6A75-14D5-4B35-B402-2B6C90147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5F3B58-F76C-4948-AD87-3EDA9DDC4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BF2087-DD83-4DF3-A53C-5E37DBD80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17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2386C8-EF16-4C68-8E2B-ACA2C1879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49AF2F-B4A6-4D54-AABA-953A81117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7CEA39-F91F-48CE-8657-051D9BD29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CD0115-9CFF-4754-A76C-DE54E851B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3E2BB8-AA43-4E77-AC26-8CFB813A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742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7D76D-A956-4B78-877D-AB2627511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2AEAE4-056A-43BC-BDDA-21BA66E37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AB3857-3B6A-4EC2-86ED-CC010BD5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330539-CE7D-400D-BDA3-46C96448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084C47-B622-4403-8B68-165BC3CC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96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45C6A9-696F-443E-A67B-0439E50D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39CC0F-5542-425F-9F47-C870EA052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6D77DC-66C5-42CB-99D4-050A7FB02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566689-C954-4DB5-932F-022F46B8A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081C16-6F6E-4737-9CEE-CCCAC2B44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04FD75-BC4B-4D7C-BB7D-7848EA45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99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22B786-73E5-4639-BCB7-1570E9D41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B1C261-0201-4CAA-8AFA-5261DEE78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224ABB-1DB5-4B65-937F-EA4B05508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3E9E60-1390-4915-84F8-270BDA3BF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56DFF27-4687-4334-AB59-6358074ADA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CAF5193-53BD-4AFB-BF49-D80C2A5B4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C95AC1D-1BBE-465C-9F3F-8411AB02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94A413-13B7-46E5-85E9-7EB3C998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34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F09BC3-74DC-498B-BC57-13B5C2B3C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20621BA-30F8-4995-94D4-EABE6176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65E77E3-DA1A-4B78-A6C3-3283ACA8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C5AC1C6-55A9-4ADE-AF34-D882E245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602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D491C21-D3F5-4F15-B308-F81A079B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C75411A-004B-478D-9D55-86A7076C6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35E965-DC82-4EC5-944F-B9594A51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464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E22C68-0551-44D2-B8F7-588CF1486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31C485-EA4E-44F2-A33B-77F03E3D9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C0B679-5096-4CC2-A26B-BEC1F05CF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0E0089-6F95-41A3-BC3F-651059C4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71EAFB-F172-441C-B819-2363C28C1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8E78DC-54F6-4565-B373-FA29D59F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60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975B5-D531-479B-93DE-28387EC3E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6BF212B-D942-4C2B-8ECE-644D94A24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0E27CC-E6C0-4A83-A936-2293AB6C7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E3ECEC-C14E-4CDC-BFB4-9C4BB5253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F5223D-95D1-4520-AA92-490C0F45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5E8C21-C883-4A48-B561-A38F14FC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908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6C30F-C7DF-409A-8F63-653E6F09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4584E2-238C-4C69-81BA-D9232650F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79284F-065C-4C86-B87E-3BCEFA917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B83F78-4D5A-45EE-86C0-E542463C8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11FAB6-AD5A-4D14-878D-1ED99B19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550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EDF6C32-436B-412A-90A7-EB121EEEB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0FE614-FBF6-48F5-B57A-998757F95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6E9D55-8922-42DC-AB11-D204DC10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7675-D0ED-413A-84E2-F14B30D92BB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718434-F46A-4FC4-A865-A8C2E7662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E9AC4E-88D7-4BB9-BC98-0F724D3FC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83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1BA58F-5AE9-4148-8BC9-5791A7758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D3FEB1-977E-4F0D-B066-1808E6A56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A9DB87-73AD-48FE-A436-D21A08664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D7675-D0ED-413A-84E2-F14B30D92BB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D71B62-64FF-4A80-AA0A-0278F34F3A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138B2A-721E-4854-B44E-64A267BE8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46356-763B-4421-BBBF-4B1C7441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17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vsm.ru/matematika/296258" TargetMode="External"/><Relationship Id="rId2" Type="http://schemas.openxmlformats.org/officeDocument/2006/relationships/hyperlink" Target="https://api-2d3d-cad.com/euler_angles_quaternions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C8FD47A-328A-4EF1-8EA7-66E6A17BBF1B}"/>
              </a:ext>
            </a:extLst>
          </p:cNvPr>
          <p:cNvSpPr/>
          <p:nvPr/>
        </p:nvSpPr>
        <p:spPr>
          <a:xfrm>
            <a:off x="1139252" y="204976"/>
            <a:ext cx="855938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spcAft>
                <a:spcPts val="0"/>
              </a:spcAft>
            </a:pPr>
            <a:r>
              <a:rPr lang="ru-RU" sz="2400" b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Расчетная работа № 2</a:t>
            </a:r>
          </a:p>
          <a:p>
            <a:pPr indent="450215" algn="ctr">
              <a:spcAft>
                <a:spcPts val="0"/>
              </a:spcAft>
            </a:pPr>
            <a:endParaRPr lang="ru-RU" sz="2400" b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fontAlgn="base"/>
            <a:r>
              <a:rPr lang="ru-RU" sz="2800" b="1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МАТРИЦЫ ПОВОРОТА, УГЛЫ ЭЙЛЕРА И КВАТЕРНИОНЫ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29AA198-7E92-4248-BB9D-68A13E08556E}"/>
              </a:ext>
            </a:extLst>
          </p:cNvPr>
          <p:cNvSpPr/>
          <p:nvPr/>
        </p:nvSpPr>
        <p:spPr>
          <a:xfrm>
            <a:off x="166164" y="2459504"/>
            <a:ext cx="11524891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https://api-2d3d-cad.com/euler_angles_quaternions/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https://www.pvsm.ru/matematika/296258</a:t>
            </a: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263"/>
            <a:r>
              <a:rPr lang="ru-RU" b="1" dirty="0"/>
              <a:t>А.А. </a:t>
            </a:r>
            <a:r>
              <a:rPr lang="ru-RU" b="1" dirty="0" err="1"/>
              <a:t>Гайфуллин</a:t>
            </a:r>
            <a:r>
              <a:rPr lang="ru-RU" b="1" dirty="0"/>
              <a:t>. Кватернионы, повороты пространства и правильные многогранники</a:t>
            </a:r>
          </a:p>
          <a:p>
            <a:pPr indent="449263"/>
            <a:r>
              <a:rPr lang="ru-RU" dirty="0"/>
              <a:t>2 мар 2020 Летняя школа «Современная математика» </a:t>
            </a:r>
          </a:p>
          <a:p>
            <a:pPr indent="450215" algn="just">
              <a:spcAft>
                <a:spcPts val="0"/>
              </a:spcAft>
            </a:pP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22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Номер слайда 3"/>
          <p:cNvSpPr txBox="1">
            <a:spLocks noGrp="1"/>
          </p:cNvSpPr>
          <p:nvPr/>
        </p:nvSpPr>
        <p:spPr bwMode="auto">
          <a:xfrm>
            <a:off x="8077200" y="62484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12AFC20A-77E7-46D8-A897-892772877F02}" type="slidenum">
              <a:rPr lang="ru-RU" sz="1200">
                <a:latin typeface="Arial Black" pitchFamily="34" charset="0"/>
              </a:rPr>
              <a:pPr algn="r" eaLnBrk="1" hangingPunct="1"/>
              <a:t>2</a:t>
            </a:fld>
            <a:endParaRPr lang="ru-RU" sz="1200">
              <a:latin typeface="Arial Black" pitchFamily="34" charset="0"/>
            </a:endParaRPr>
          </a:p>
        </p:txBody>
      </p:sp>
      <p:sp>
        <p:nvSpPr>
          <p:cNvPr id="401410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01420" name="Rectangle 12"/>
          <p:cNvSpPr>
            <a:spLocks noChangeArrowheads="1"/>
          </p:cNvSpPr>
          <p:nvPr/>
        </p:nvSpPr>
        <p:spPr bwMode="auto">
          <a:xfrm>
            <a:off x="1524001" y="5107417"/>
            <a:ext cx="8964488" cy="10156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Угол </a:t>
            </a:r>
            <a:r>
              <a:rPr lang="el-GR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α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 между осью </a:t>
            </a:r>
            <a:r>
              <a:rPr lang="ru-RU" sz="20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х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 и линией узлов </a:t>
            </a:r>
            <a:r>
              <a:rPr lang="en-US" sz="20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OK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— угол прецессии.</a:t>
            </a:r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Угол </a:t>
            </a:r>
            <a:r>
              <a:rPr lang="el-GR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β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между осями </a:t>
            </a:r>
            <a:r>
              <a:rPr lang="en-US" sz="20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z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 и </a:t>
            </a:r>
            <a:r>
              <a:rPr lang="en-US" sz="20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z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’ — угол нутации.</a:t>
            </a:r>
          </a:p>
          <a:p>
            <a:pPr eaLnBrk="0" hangingPunct="0">
              <a:tabLst>
                <a:tab pos="457200" algn="l"/>
              </a:tabLst>
            </a:pP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Угол </a:t>
            </a:r>
            <a:r>
              <a:rPr lang="el-GR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γ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 между осью </a:t>
            </a:r>
            <a:r>
              <a:rPr lang="en-US" sz="20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x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’и линией узлов </a:t>
            </a:r>
            <a:r>
              <a:rPr lang="en-US" sz="20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OK </a:t>
            </a:r>
            <a:r>
              <a:rPr lang="ru-RU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 — угол собственного вращения.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68ECC0-F22C-48B3-ADB7-CCED84AE3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643" y="1289557"/>
            <a:ext cx="3357484" cy="31784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976DBB-47E6-4A83-AB9B-5914354BB79A}"/>
              </a:ext>
            </a:extLst>
          </p:cNvPr>
          <p:cNvSpPr txBox="1"/>
          <p:nvPr/>
        </p:nvSpPr>
        <p:spPr>
          <a:xfrm>
            <a:off x="558531" y="355752"/>
            <a:ext cx="114337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effectLst/>
                <a:latin typeface="Ubuntu"/>
              </a:rPr>
              <a:t>Углы Эйлера– углы, описывающие поворот абсолютно твердого тела в трёхмерном </a:t>
            </a:r>
            <a:r>
              <a:rPr lang="ru-RU" sz="2000" b="0" i="0" strike="noStrike" dirty="0">
                <a:effectLst/>
                <a:latin typeface="Ubuntu"/>
              </a:rPr>
              <a:t>евклидовом пространстве</a:t>
            </a:r>
            <a:r>
              <a:rPr lang="ru-RU" sz="2000" b="0" i="0" dirty="0">
                <a:solidFill>
                  <a:srgbClr val="444444"/>
                </a:solidFill>
                <a:effectLst/>
                <a:latin typeface="Ubuntu"/>
              </a:rPr>
              <a:t>.</a:t>
            </a:r>
            <a:endParaRPr lang="ru-RU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815C0F-5A43-46D9-8770-B30E3736C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25" y="1190749"/>
            <a:ext cx="3063049" cy="3534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989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CB3B73C6-58E4-4F82-A135-389B9CD84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110" y="601952"/>
            <a:ext cx="10948035" cy="18466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Ubuntu"/>
              </a:rPr>
              <a:t>От выбора осей и последовательности вращения зависит конечный результат. На рисунках отображена следующая последовательность вращения относительно осей ЛСК: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оси  </a:t>
            </a:r>
            <a:r>
              <a:rPr kumimoji="0" lang="ru-RU" altLang="ru-RU" sz="20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Ubuntu"/>
              </a:rPr>
              <a:t>Z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  (угол </a:t>
            </a:r>
            <a:r>
              <a:rPr kumimoji="0" lang="el-GR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α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оси </a:t>
            </a:r>
            <a:r>
              <a:rPr kumimoji="0" lang="ru-RU" altLang="ru-RU" sz="20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Ubuntu"/>
              </a:rPr>
              <a:t>X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  (угол </a:t>
            </a:r>
            <a:r>
              <a:rPr kumimoji="0" lang="el-GR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β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оси </a:t>
            </a:r>
            <a:r>
              <a:rPr kumimoji="0" lang="ru-RU" altLang="ru-RU" sz="20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Ubuntu"/>
              </a:rPr>
              <a:t>Z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  (угол </a:t>
            </a:r>
            <a:r>
              <a:rPr kumimoji="0" lang="el-GR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γ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).</a:t>
            </a:r>
          </a:p>
          <a:p>
            <a:pPr algn="l" fontAlgn="base"/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Ubuntu"/>
              </a:rPr>
              <a:t>      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B99D7B7-908E-4876-A06B-77B9F0AA6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" y="2253739"/>
            <a:ext cx="10966776" cy="257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F512DD4-D077-4A62-AA12-CD1A16BE6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117" y="5094422"/>
            <a:ext cx="3211883" cy="127291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9875147-5D92-4442-8A4E-A5A44626F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365" y="5094422"/>
            <a:ext cx="3041729" cy="120493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6F45FE2-1E3E-4082-992A-AC2DC5D9B4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3" y="5050834"/>
            <a:ext cx="3041729" cy="120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09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EB3E04F-FCA5-4A1C-B6AF-E426FEEB9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028" y="1621339"/>
            <a:ext cx="10364690" cy="118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C5D4AB-A4E4-4E59-B029-56E5C838FDD9}"/>
              </a:ext>
            </a:extLst>
          </p:cNvPr>
          <p:cNvSpPr txBox="1"/>
          <p:nvPr/>
        </p:nvSpPr>
        <p:spPr>
          <a:xfrm>
            <a:off x="1098028" y="887130"/>
            <a:ext cx="96049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444444"/>
                </a:solidFill>
                <a:effectLst/>
                <a:latin typeface="Ubuntu"/>
              </a:rPr>
              <a:t>Перемножение матриц                                             даст следующий результат: </a:t>
            </a:r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7D41CB8-7A16-4ABE-A834-00DB18633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653" y="887130"/>
            <a:ext cx="2369720" cy="50695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C553E02-35B2-44A1-9746-ECDFDAC8E80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53" y="3417445"/>
            <a:ext cx="342900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96285F-A6E1-43E1-A3C7-F9FEE7E73745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217" y="3417445"/>
            <a:ext cx="3247454" cy="3707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B2DDAB3-57B1-4180-83D5-48C50BE7321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9453" y="3218688"/>
            <a:ext cx="3510894" cy="31535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1644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7699DE1-633F-4C9E-893F-F1E12494DED6}"/>
              </a:ext>
            </a:extLst>
          </p:cNvPr>
          <p:cNvSpPr txBox="1"/>
          <p:nvPr/>
        </p:nvSpPr>
        <p:spPr>
          <a:xfrm>
            <a:off x="2764711" y="68264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КМПЛЕКСНЫЕ ЧИСЛА И ПОВОРОТЫ </a:t>
            </a:r>
          </a:p>
          <a:p>
            <a:pPr algn="ctr"/>
            <a:r>
              <a:rPr lang="ru-RU" sz="1800" b="1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ПЛОСКОСТИ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FE3645-DEC5-4C1C-963D-44335BECD79B}"/>
              </a:ext>
            </a:extLst>
          </p:cNvPr>
          <p:cNvSpPr txBox="1"/>
          <p:nvPr/>
        </p:nvSpPr>
        <p:spPr>
          <a:xfrm>
            <a:off x="470416" y="938906"/>
            <a:ext cx="113268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Можно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выполнять на комплексной плоскости произвольные повороты, задав комплексное число в следующем виде (ротор):</a:t>
            </a:r>
            <a:endParaRPr lang="ru-RU" sz="2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798812-E728-4429-B7A9-85E731481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272" y="1585237"/>
            <a:ext cx="2524348" cy="525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F9E8EB-1D00-477C-AD5E-802D28BA5102}"/>
              </a:ext>
            </a:extLst>
          </p:cNvPr>
          <p:cNvSpPr txBox="1"/>
          <p:nvPr/>
        </p:nvSpPr>
        <p:spPr>
          <a:xfrm>
            <a:off x="459738" y="2076436"/>
            <a:ext cx="82495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При умножении любого комплексного числа на ротор  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q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,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получим: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3A6C00-4B0C-46A8-ACFE-4ACE35854117}"/>
              </a:ext>
            </a:extLst>
          </p:cNvPr>
          <p:cNvSpPr txBox="1"/>
          <p:nvPr/>
        </p:nvSpPr>
        <p:spPr>
          <a:xfrm>
            <a:off x="459737" y="4082545"/>
            <a:ext cx="6975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Что также можно записать в матричном виде:</a:t>
            </a:r>
            <a:endParaRPr lang="ru-RU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E249BF-7C71-4681-850A-B3A350B32222}"/>
              </a:ext>
            </a:extLst>
          </p:cNvPr>
          <p:cNvSpPr txBox="1"/>
          <p:nvPr/>
        </p:nvSpPr>
        <p:spPr>
          <a:xfrm>
            <a:off x="427239" y="5457429"/>
            <a:ext cx="113375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Что является способом поворота против часовой стрелки произвольно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го радиус-вектора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на плоскости относительно точки начала координат.</a:t>
            </a:r>
            <a:b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</a:br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9C7C6CF-8C60-4176-ADE3-0A45D7DF1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16" y="2495550"/>
            <a:ext cx="5647829" cy="14759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D252F0-97E1-462B-BA94-85F83396B9EC}"/>
                  </a:ext>
                </a:extLst>
              </p:cNvPr>
              <p:cNvSpPr txBox="1"/>
              <p:nvPr/>
            </p:nvSpPr>
            <p:spPr>
              <a:xfrm>
                <a:off x="809469" y="4562906"/>
                <a:ext cx="3432747" cy="5903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sz="22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ru-RU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D252F0-97E1-462B-BA94-85F83396B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69" y="4562906"/>
                <a:ext cx="3432747" cy="5903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3789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7699DE1-633F-4C9E-893F-F1E12494DED6}"/>
              </a:ext>
            </a:extLst>
          </p:cNvPr>
          <p:cNvSpPr txBox="1"/>
          <p:nvPr/>
        </p:nvSpPr>
        <p:spPr>
          <a:xfrm>
            <a:off x="2764711" y="68264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КВАТЕРНИОНЫ И ПОВОРОТЫ В ТРЕХМЕРНРОМ ПРОСТРАНСТВЕ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FE3645-DEC5-4C1C-963D-44335BECD79B}"/>
              </a:ext>
            </a:extLst>
          </p:cNvPr>
          <p:cNvSpPr txBox="1"/>
          <p:nvPr/>
        </p:nvSpPr>
        <p:spPr>
          <a:xfrm>
            <a:off x="470417" y="938906"/>
            <a:ext cx="63051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Кватернионы имеют следующий обобщённый вид:</a:t>
            </a:r>
            <a:endParaRPr lang="ru-RU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777641-454B-4467-8AAB-A04DC64E256E}"/>
              </a:ext>
            </a:extLst>
          </p:cNvPr>
          <p:cNvSpPr txBox="1"/>
          <p:nvPr/>
        </p:nvSpPr>
        <p:spPr>
          <a:xfrm>
            <a:off x="579353" y="1674762"/>
            <a:ext cx="66009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Где в соответствии со знаменитым выражением Гамильтона:</a:t>
            </a:r>
          </a:p>
          <a:p>
            <a:endParaRPr lang="ru-RU" sz="2000" dirty="0">
              <a:solidFill>
                <a:srgbClr val="333333"/>
              </a:solidFill>
              <a:latin typeface="Verdan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E9F471-76A4-412C-87B2-AA0DB9311FD5}"/>
              </a:ext>
            </a:extLst>
          </p:cNvPr>
          <p:cNvSpPr txBox="1"/>
          <p:nvPr/>
        </p:nvSpPr>
        <p:spPr>
          <a:xfrm>
            <a:off x="579353" y="3049161"/>
            <a:ext cx="110530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Можно заметить, что соотношения между  </a:t>
            </a:r>
            <a:r>
              <a:rPr lang="en-US" sz="2000" b="1" dirty="0" err="1">
                <a:solidFill>
                  <a:srgbClr val="333333"/>
                </a:solidFill>
                <a:latin typeface="Verdana" panose="020B0604030504040204" pitchFamily="34" charset="0"/>
              </a:rPr>
              <a:t>i</a:t>
            </a:r>
            <a:r>
              <a:rPr lang="en-US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, j</a:t>
            </a:r>
            <a:r>
              <a:rPr lang="ru-RU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и  </a:t>
            </a:r>
            <a:r>
              <a:rPr lang="en-US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k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очень похожи на правила векторного умножения единичных векторов декартовой ортогональной системы координат</a:t>
            </a:r>
            <a:endParaRPr lang="ru-RU" sz="20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61900CE-B0AB-4FA2-8015-E18A7C674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555" y="892467"/>
            <a:ext cx="4575716" cy="512207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9AF7FE4-EE91-4F8A-A3C5-76A6201DE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289" y="1348762"/>
            <a:ext cx="4098372" cy="147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559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2" descr="$i$">
            <a:extLst>
              <a:ext uri="{FF2B5EF4-FFF2-40B4-BE49-F238E27FC236}">
                <a16:creationId xmlns:a16="http://schemas.microsoft.com/office/drawing/2014/main" id="{066D6700-A2E5-4D8D-B6B4-76B346CE8A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2159" y="146539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AutoShape 3" descr="$j$">
            <a:extLst>
              <a:ext uri="{FF2B5EF4-FFF2-40B4-BE49-F238E27FC236}">
                <a16:creationId xmlns:a16="http://schemas.microsoft.com/office/drawing/2014/main" id="{BE6E00AB-4AC3-4153-B7D3-C270D7DC51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184" y="146539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AutoShape 4" descr="$k$">
            <a:extLst>
              <a:ext uri="{FF2B5EF4-FFF2-40B4-BE49-F238E27FC236}">
                <a16:creationId xmlns:a16="http://schemas.microsoft.com/office/drawing/2014/main" id="{F0714792-5F3B-4678-96E8-E38A92A47F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03234" y="146539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1616C4-3D91-40F5-A51D-A920D008D58E}"/>
              </a:ext>
            </a:extLst>
          </p:cNvPr>
          <p:cNvSpPr txBox="1"/>
          <p:nvPr/>
        </p:nvSpPr>
        <p:spPr>
          <a:xfrm>
            <a:off x="381834" y="321730"/>
            <a:ext cx="10066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ru-RU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Также мы можем представить кватернионы в виде упорядоченной пары: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5994B101-9330-4451-9A82-E2F1F705E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350" y="815661"/>
            <a:ext cx="3639480" cy="568114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B5F760D1-E961-4C30-95F6-0C95E63C2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014" y="1465393"/>
            <a:ext cx="5184040" cy="56811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B75CDF1-B453-4DF1-8AC5-4D34A5BD945E}"/>
              </a:ext>
            </a:extLst>
          </p:cNvPr>
          <p:cNvSpPr txBox="1"/>
          <p:nvPr/>
        </p:nvSpPr>
        <p:spPr>
          <a:xfrm>
            <a:off x="381834" y="2175192"/>
            <a:ext cx="7401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Кватернионы можно складывать и вычитать</a:t>
            </a:r>
            <a:endParaRPr lang="ru-RU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903C55C3-117E-478B-AAE2-ED2F00718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01" y="2544524"/>
            <a:ext cx="4584354" cy="161991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1849579-6C3B-44C1-8B09-1A267E90E67C}"/>
              </a:ext>
            </a:extLst>
          </p:cNvPr>
          <p:cNvSpPr txBox="1"/>
          <p:nvPr/>
        </p:nvSpPr>
        <p:spPr>
          <a:xfrm>
            <a:off x="381834" y="4164437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333333"/>
                </a:solidFill>
                <a:latin typeface="Verdana" panose="020B0604030504040204" pitchFamily="34" charset="0"/>
              </a:rPr>
              <a:t>П</a:t>
            </a:r>
            <a:r>
              <a:rPr lang="ru-RU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роизведение двух кватернионов:</a:t>
            </a:r>
            <a:endParaRPr lang="ru-RU" dirty="0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2D5FD15F-4220-426D-A0FF-7A83727CC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609" y="4719168"/>
            <a:ext cx="5941559" cy="78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838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D66AFA8-D978-45A2-992A-67BE89057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56899"/>
            <a:ext cx="9198864" cy="35621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87B6D9-827C-4953-9B02-303246B0C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72" y="3553023"/>
            <a:ext cx="8127976" cy="33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55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31FCA2-247A-41F7-8ED5-0FEAC94D726F}"/>
              </a:ext>
            </a:extLst>
          </p:cNvPr>
          <p:cNvSpPr txBox="1"/>
          <p:nvPr/>
        </p:nvSpPr>
        <p:spPr>
          <a:xfrm>
            <a:off x="531175" y="325479"/>
            <a:ext cx="103816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Сопряжённое число кватерниона можно вычислить, взяв противоположную по знаку векторную часть кватерниона:</a:t>
            </a:r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59F653-CD3B-419A-B354-91485A7C1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866" y="1074399"/>
            <a:ext cx="2451105" cy="87901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3CA561-23D8-4E18-9627-770EFE1B4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437" y="2891879"/>
            <a:ext cx="5713613" cy="15044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E24BBD-2851-4A2D-BAD4-E543F217F48D}"/>
              </a:ext>
            </a:extLst>
          </p:cNvPr>
          <p:cNvSpPr txBox="1"/>
          <p:nvPr/>
        </p:nvSpPr>
        <p:spPr>
          <a:xfrm>
            <a:off x="531175" y="2047274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Произведение кватерниона и его сопряжённого числа даёт нам следующее:</a:t>
            </a:r>
            <a:endParaRPr lang="ru-RU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FE34E1-7986-4066-BED8-1E51302F27C0}"/>
              </a:ext>
            </a:extLst>
          </p:cNvPr>
          <p:cNvSpPr txBox="1"/>
          <p:nvPr/>
        </p:nvSpPr>
        <p:spPr>
          <a:xfrm>
            <a:off x="7442384" y="1953416"/>
            <a:ext cx="44747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Норма (модуль) кватерниона</a:t>
            </a:r>
            <a:endParaRPr lang="ru-RU" sz="20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F714C4F-3C39-4035-92D4-1BA8D59F5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647" y="2428928"/>
            <a:ext cx="1741131" cy="5578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752B8C-C41F-4A3E-A61D-21E72E0C8D8F}"/>
              </a:ext>
            </a:extLst>
          </p:cNvPr>
          <p:cNvSpPr txBox="1"/>
          <p:nvPr/>
        </p:nvSpPr>
        <p:spPr>
          <a:xfrm>
            <a:off x="7648730" y="3113333"/>
            <a:ext cx="40735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Обратный кватернион</a:t>
            </a:r>
            <a:endParaRPr lang="ru-RU" sz="20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8409144-1B07-47BC-984F-6D0ADCF74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801" y="3403569"/>
            <a:ext cx="2015818" cy="113389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A63577-AD91-4A73-B687-430BB63D02AD}"/>
              </a:ext>
            </a:extLst>
          </p:cNvPr>
          <p:cNvSpPr txBox="1"/>
          <p:nvPr/>
        </p:nvSpPr>
        <p:spPr>
          <a:xfrm>
            <a:off x="579705" y="4973068"/>
            <a:ext cx="92610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Для единичных кватернионов-норм, норма которых равна 1:</a:t>
            </a:r>
            <a:endParaRPr lang="ru-RU" sz="20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303D048-FA31-4251-926B-FB5444D1EF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1524" y="5523216"/>
            <a:ext cx="1944759" cy="100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74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F352243-3022-4212-8EC2-674644E71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714" y="1029637"/>
            <a:ext cx="2864475" cy="9190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7A764A-E5C4-473D-ADE0-2C8C52453542}"/>
              </a:ext>
            </a:extLst>
          </p:cNvPr>
          <p:cNvSpPr txBox="1"/>
          <p:nvPr/>
        </p:nvSpPr>
        <p:spPr>
          <a:xfrm>
            <a:off x="432138" y="467406"/>
            <a:ext cx="100621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Общий вид кватерниона поворота (единичного кватерниона), который задает поворот вокруг оси </a:t>
            </a:r>
            <a:r>
              <a:rPr lang="en-US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v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 на угол </a:t>
            </a:r>
            <a:r>
              <a:rPr lang="el-GR" sz="2000" dirty="0">
                <a:solidFill>
                  <a:srgbClr val="333333"/>
                </a:solidFill>
                <a:latin typeface="Verdana" panose="020B0604030504040204" pitchFamily="34" charset="0"/>
              </a:rPr>
              <a:t>θ</a:t>
            </a:r>
            <a:endParaRPr lang="ru-R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2A282C-B43A-489F-90F5-2E61C161C2BE}"/>
              </a:ext>
            </a:extLst>
          </p:cNvPr>
          <p:cNvSpPr txBox="1"/>
          <p:nvPr/>
        </p:nvSpPr>
        <p:spPr>
          <a:xfrm>
            <a:off x="497016" y="2378971"/>
            <a:ext cx="107456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Д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ля поворота вектора </a:t>
            </a:r>
            <a:r>
              <a:rPr lang="en-US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p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на угол вокруг оси </a:t>
            </a:r>
            <a:r>
              <a:rPr lang="en-US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v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 на угол </a:t>
            </a:r>
            <a:r>
              <a:rPr lang="el-GR" sz="2000" dirty="0">
                <a:solidFill>
                  <a:srgbClr val="333333"/>
                </a:solidFill>
                <a:latin typeface="Verdana" panose="020B0604030504040204" pitchFamily="34" charset="0"/>
              </a:rPr>
              <a:t>θ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, </a:t>
            </a:r>
            <a:r>
              <a:rPr lang="en-US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p</a:t>
            </a:r>
            <a:r>
              <a:rPr lang="ru-RU" sz="2000" b="1" dirty="0">
                <a:solidFill>
                  <a:srgbClr val="333333"/>
                </a:solidFill>
                <a:latin typeface="Verdana" panose="020B0604030504040204" pitchFamily="34" charset="0"/>
              </a:rPr>
              <a:t>=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{0,{p</a:t>
            </a:r>
            <a:r>
              <a:rPr lang="en-US" sz="1400" dirty="0">
                <a:solidFill>
                  <a:srgbClr val="333333"/>
                </a:solidFill>
                <a:latin typeface="Verdana" panose="020B0604030504040204" pitchFamily="34" charset="0"/>
              </a:rPr>
              <a:t>1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, p</a:t>
            </a:r>
            <a:r>
              <a:rPr lang="en-US" sz="1400" dirty="0">
                <a:solidFill>
                  <a:srgbClr val="333333"/>
                </a:solidFill>
                <a:latin typeface="Verdana" panose="020B0604030504040204" pitchFamily="34" charset="0"/>
              </a:rPr>
              <a:t>2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, p</a:t>
            </a:r>
            <a:r>
              <a:rPr lang="en-US" sz="1400" dirty="0">
                <a:solidFill>
                  <a:srgbClr val="333333"/>
                </a:solidFill>
                <a:latin typeface="Verdana" panose="020B0604030504040204" pitchFamily="34" charset="0"/>
              </a:rPr>
              <a:t>3</a:t>
            </a: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}}</a:t>
            </a:r>
            <a:r>
              <a:rPr lang="ru-RU" sz="2000" dirty="0">
                <a:solidFill>
                  <a:srgbClr val="333333"/>
                </a:solidFill>
                <a:latin typeface="Verdana" panose="020B0604030504040204" pitchFamily="34" charset="0"/>
              </a:rPr>
              <a:t>  </a:t>
            </a:r>
            <a:endParaRPr lang="ru-RU" sz="20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4E35E6B-9137-487C-B4BD-B392F2113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806" y="3001145"/>
            <a:ext cx="1252145" cy="63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27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C98701-A0D9-4D61-946B-BA5F44F930C4}"/>
              </a:ext>
            </a:extLst>
          </p:cNvPr>
          <p:cNvSpPr/>
          <p:nvPr/>
        </p:nvSpPr>
        <p:spPr>
          <a:xfrm>
            <a:off x="1392294" y="263403"/>
            <a:ext cx="79420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spcAft>
                <a:spcPts val="0"/>
              </a:spcAft>
            </a:pPr>
            <a:r>
              <a:rPr lang="ru-RU" sz="2400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по Расчетной работе № 2</a:t>
            </a:r>
            <a:endParaRPr lang="ru-RU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B7B5A2D-A5AC-47B0-A554-94D9027ABAD9}"/>
              </a:ext>
            </a:extLst>
          </p:cNvPr>
          <p:cNvSpPr/>
          <p:nvPr/>
        </p:nvSpPr>
        <p:spPr>
          <a:xfrm>
            <a:off x="552771" y="1037511"/>
            <a:ext cx="10854743" cy="4467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Вывести формулу произведения кватернионов.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Реализовать алгоритм для визуализации поворотов куба вокруг осей координат на заданный угол с помощью матриц поворота.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Реализовать алгоритм для визуализации поворота куба с помощью углов Эйлера.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Реализовать алгоритм для визуализации поворота с помощью кватернионов.</a:t>
            </a:r>
            <a:endParaRPr lang="en-US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Изобразить повороты тетраэдра вокруг координатных осей</a:t>
            </a:r>
            <a:r>
              <a:rPr lang="en-US" sz="2400" dirty="0"/>
              <a:t>;</a:t>
            </a:r>
            <a:r>
              <a:rPr lang="ru-RU" sz="2400" dirty="0"/>
              <a:t> произвольной оси с помощью кватернионов.</a:t>
            </a:r>
          </a:p>
        </p:txBody>
      </p:sp>
    </p:spTree>
    <p:extLst>
      <p:ext uri="{BB962C8B-B14F-4D97-AF65-F5344CB8AC3E}">
        <p14:creationId xmlns:p14="http://schemas.microsoft.com/office/powerpoint/2010/main" val="4011547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3F5E36-1F1E-479C-8DBA-30312AE87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14" y="331058"/>
            <a:ext cx="11857474" cy="603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75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0050A9-B5C5-43EC-B3F8-845884022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88" y="165386"/>
            <a:ext cx="9041178" cy="666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789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DF57A2-3D67-4E16-A617-E6A694A56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4" y="298788"/>
            <a:ext cx="8235144" cy="665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88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6FA349-8292-42AF-92CC-7971B9E7F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13" y="270525"/>
            <a:ext cx="8107001" cy="699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7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BCB355-0069-4A52-ABC8-C590C6A11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80" y="263108"/>
            <a:ext cx="7300835" cy="642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130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C62310-8F76-4004-9A9D-47408EA86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54" y="437057"/>
            <a:ext cx="10008043" cy="599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691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E46793-EFD9-4BCB-B367-A1C0E845E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65932"/>
            <a:ext cx="6836452" cy="634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56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D4509CC-C200-4DAE-8586-67A162A39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75" y="309150"/>
            <a:ext cx="7840218" cy="62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13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74B2E3-3076-4CF2-B6C8-E0C407AFC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5" y="314324"/>
            <a:ext cx="7444122" cy="643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992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424</Words>
  <Application>Microsoft Office PowerPoint</Application>
  <PresentationFormat>Широкоэкранный</PresentationFormat>
  <Paragraphs>47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Cambria Math</vt:lpstr>
      <vt:lpstr>Times New Roman</vt:lpstr>
      <vt:lpstr>Ubuntu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Няшин Максим Михайлович</cp:lastModifiedBy>
  <cp:revision>43</cp:revision>
  <dcterms:created xsi:type="dcterms:W3CDTF">2020-04-19T23:23:08Z</dcterms:created>
  <dcterms:modified xsi:type="dcterms:W3CDTF">2023-10-22T20:35:26Z</dcterms:modified>
</cp:coreProperties>
</file>