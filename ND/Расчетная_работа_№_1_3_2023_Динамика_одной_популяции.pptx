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9" r:id="rId5"/>
    <p:sldId id="260" r:id="rId6"/>
    <p:sldId id="266" r:id="rId7"/>
    <p:sldId id="262" r:id="rId8"/>
    <p:sldId id="264" r:id="rId9"/>
    <p:sldId id="268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7" autoAdjust="0"/>
    <p:restoredTop sz="94660"/>
  </p:normalViewPr>
  <p:slideViewPr>
    <p:cSldViewPr snapToGrid="0">
      <p:cViewPr>
        <p:scale>
          <a:sx n="60" d="100"/>
          <a:sy n="60" d="100"/>
        </p:scale>
        <p:origin x="8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C8C01-B142-4DAC-B78F-E84F72EBB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62C429-0F6A-4619-B261-0A00F28AC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A368AE-8743-4249-903E-3CBDCC39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983518-1D60-4A02-8FAD-7C5A7116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8C8316-FF5B-457B-ACEB-D49B6D36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4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91DCF-1D15-4E90-9156-63C12035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E88E5B-E337-4547-A2E9-0E579F917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9957C5-4A26-48AA-881E-03765119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985269-C496-41EF-A8B5-CCDD2E72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357755-19F9-419A-8628-6D36D814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80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DAC6D-024B-4B5C-A4B9-7852EFD1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A44460-8A6E-4343-B46A-C3DDB686D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834909-113D-467A-9F53-29D578DF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789F3D-8C7E-4AAD-B7DE-D18D44A24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237705-8B23-461E-A9A1-70BA1E64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58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A126D-D6DE-4863-8D48-A21F71C4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C55CE8-FEE0-47C1-86AA-6DFCE00FE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869C6-9515-4411-8777-39D7A86D3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E80234-6732-4BBF-B683-5A8E8CE6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3A5B2F-231E-464D-8FA8-B3D06508E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C26540-39B5-48DD-80A6-3D942141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13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66775-2A40-46B6-84FF-1E3C61716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926724-9405-4030-87AE-57C836BC6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53AB78-9E23-45C5-8FB2-A8E46180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405B6D-8331-4CFE-9C8C-3D57C8ABA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8F8FF9-C197-4A07-942A-0447FE302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0341D3-5E3F-423F-BC5F-B0C70289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47B61F3-E82B-49F3-B148-B98C1B37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6765C16-8375-4BA7-B061-62F5B3E7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90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78683-7433-41C1-AEA1-9DF45CFD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25E0BC-9334-43CE-9222-03E40BA2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3AF3938-CA7E-435D-85E3-09994939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B4F7AD-44EE-49DA-8604-630812AD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70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C37F00B-BF72-4259-9E47-62BE3F88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BE2CEE-5A61-49BD-93D6-2951AF72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BD6BE5-8BB9-4023-A689-2EBCAA76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79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D6E2F-5299-474B-9754-11D52344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8EC61-7164-4F32-ADED-FB11BF4A3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7E3065-DCE1-4BA2-884D-013BAAF71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05405A-83A9-46B7-B5C2-6ED49C10E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BB5EF9-ABAD-49EE-8B35-A8E11EE7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3978ED-C0DF-4D45-8112-F5FF7D87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46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CFD61-1BAE-437F-85A7-2B599DC9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50B486-3818-4540-BC24-0F8257575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FF2F85-C6A6-487E-BB1A-D72F00115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6B69C-85F5-4187-BADF-B2A63002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466CBB-3F64-48C0-9CF2-B8D78F93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F70B47-E708-4B8B-B6FA-0A202BCA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09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C669B-C148-466D-984C-92476145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7CEE5C-DA73-421F-A7F2-498E53418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0D9F3B-4548-4165-AC63-C7C95F21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0971AB-C32D-4668-80E2-6CCD80C0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709F6-AE7A-460C-A87A-1F2E086F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16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99D6B3-3683-4933-A560-17DC88D3E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91E0E0-9D9A-40E6-9963-EF5FB4C4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EE335-33A7-44B2-B26F-3347F8AF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28AFC8-32B9-4146-8605-51A68894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32BF18-98AC-4500-A7B7-7F1D40ED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05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1B487-32DE-4F17-BBFC-CFA10FA4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9DE7F5-C519-4B6E-89C2-A331BA47A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6D9705-273A-4F2D-91AD-D6742F443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AF186-E2C8-4DF4-93FA-6FB35493C8A2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9A8D98-5836-4317-A7CF-B7FBC90FB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8DF21C-306D-4A71-BF9E-421398AE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42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51677-05D6-4E3C-8379-CF29F3125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Расчетная работа № 3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8853FF-C89C-40A6-ABFB-6DEA3ED7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03262"/>
          </a:xfrm>
        </p:spPr>
        <p:txBody>
          <a:bodyPr>
            <a:normAutofit/>
          </a:bodyPr>
          <a:lstStyle/>
          <a:p>
            <a:r>
              <a:rPr lang="ru-RU" sz="4000" dirty="0"/>
              <a:t>Динамика популяции. Одна популяция</a:t>
            </a:r>
          </a:p>
        </p:txBody>
      </p:sp>
    </p:spTree>
    <p:extLst>
      <p:ext uri="{BB962C8B-B14F-4D97-AF65-F5344CB8AC3E}">
        <p14:creationId xmlns:p14="http://schemas.microsoft.com/office/powerpoint/2010/main" val="377985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Номер слайда 20">
            <a:extLst>
              <a:ext uri="{FF2B5EF4-FFF2-40B4-BE49-F238E27FC236}">
                <a16:creationId xmlns:a16="http://schemas.microsoft.com/office/drawing/2014/main" id="{BE101006-45F4-41B6-8E9F-F73B0001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A265B5-A376-429C-A96E-94A584D6359A}" type="slidenum">
              <a:rPr lang="ru-RU" altLang="ru-RU"/>
              <a:pPr eaLnBrk="1" hangingPunct="1"/>
              <a:t>2</a:t>
            </a:fld>
            <a:endParaRPr lang="ru-RU" alt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B6A671-2C4C-4F1A-BF40-FA6B29A801AD}"/>
              </a:ext>
            </a:extLst>
          </p:cNvPr>
          <p:cNvSpPr txBox="1"/>
          <p:nvPr/>
        </p:nvSpPr>
        <p:spPr>
          <a:xfrm>
            <a:off x="616974" y="476182"/>
            <a:ext cx="109580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Популяция</a:t>
            </a:r>
            <a: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сообщество особей одного вида, занимающих некоторую область пространства планеты (бактерии, вирусы, различные виды насекомых, млекопитающих…).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21DE5D-5B91-4FC2-9E94-4955653CF5E8}"/>
              </a:ext>
            </a:extLst>
          </p:cNvPr>
          <p:cNvSpPr txBox="1"/>
          <p:nvPr/>
        </p:nvSpPr>
        <p:spPr>
          <a:xfrm>
            <a:off x="616974" y="3429000"/>
            <a:ext cx="10736826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ru-RU" sz="2800" b="1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Модель Мальтуса</a:t>
            </a:r>
          </a:p>
          <a:p>
            <a:pPr algn="just">
              <a:spcAft>
                <a:spcPts val="800"/>
              </a:spcAft>
            </a:pPr>
            <a: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Модель была предложена священником Томасом Мальтусом в 1778 г. в работе «Трактат о народонаселении».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787EC-BD7C-4538-AE0E-B67BD8DD8D83}"/>
              </a:ext>
            </a:extLst>
          </p:cNvPr>
          <p:cNvSpPr txBox="1"/>
          <p:nvPr/>
        </p:nvSpPr>
        <p:spPr>
          <a:xfrm>
            <a:off x="616975" y="1658335"/>
            <a:ext cx="10736825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Встречаются популяции с дискретным периодом размножением (сезонным, связанным с временами года) и с непрерывным периодом.</a:t>
            </a:r>
          </a:p>
          <a:p>
            <a: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Для популяций с непрерывным периодом размножения применим аппарат дифференциального исчисления.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88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B1B18D-9C2F-4E39-9B96-CD46DFF7BCEF}"/>
              </a:ext>
            </a:extLst>
          </p:cNvPr>
          <p:cNvSpPr/>
          <p:nvPr/>
        </p:nvSpPr>
        <p:spPr>
          <a:xfrm>
            <a:off x="1333860" y="1204272"/>
            <a:ext cx="97274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Как будет изменяться численность популяции, если сдерживающие факторы (болезни, хищники, конкурирующие виды, ограниченность питания и т.д.) отсутствуют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DF99DAEC-F7B2-4A94-AF06-EA77019D6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54" y="548764"/>
            <a:ext cx="7343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dirty="0">
                <a:solidFill>
                  <a:srgbClr val="0000FF"/>
                </a:solidFill>
              </a:rPr>
              <a:t>Содержательная постановка 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FDD34-9C89-4901-B09B-95DBC0365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53" y="2285503"/>
            <a:ext cx="73437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dirty="0">
                <a:solidFill>
                  <a:srgbClr val="0000FF"/>
                </a:solidFill>
              </a:rPr>
              <a:t>Концептуальная постановка задачи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563352C-294A-433E-B53C-55340947C7CB}"/>
              </a:ext>
            </a:extLst>
          </p:cNvPr>
          <p:cNvSpPr/>
          <p:nvPr/>
        </p:nvSpPr>
        <p:spPr>
          <a:xfrm>
            <a:off x="1333860" y="3021722"/>
            <a:ext cx="87122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Гипотезы: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объектом исследования является некоторая популяция организмов;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srgbClr val="66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сдерживающие факторы роста популяции отсутствуют;</a:t>
            </a:r>
            <a:endParaRPr lang="en-US" sz="2000" dirty="0">
              <a:solidFill>
                <a:srgbClr val="66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srgbClr val="66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скорость прироста прямо пропорциональна численности популяции;</a:t>
            </a:r>
          </a:p>
          <a:p>
            <a:pPr>
              <a:defRPr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Последние две гипотезы очень грубые. Применимы на очень коротком начальном этапе развития популяции.</a:t>
            </a:r>
            <a:endParaRPr lang="en-US" sz="2000" dirty="0">
              <a:solidFill>
                <a:srgbClr val="66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5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4">
            <a:extLst>
              <a:ext uri="{FF2B5EF4-FFF2-40B4-BE49-F238E27FC236}">
                <a16:creationId xmlns:a16="http://schemas.microsoft.com/office/drawing/2014/main" id="{3246F202-6995-43B4-AFC9-8EC4A20E8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271" y="417513"/>
            <a:ext cx="7705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solidFill>
                  <a:srgbClr val="0000FF"/>
                </a:solidFill>
              </a:rPr>
              <a:t>Математическая постановка: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89A554-614B-4E86-809A-FC1FF6B1B1AE}"/>
                  </a:ext>
                </a:extLst>
              </p:cNvPr>
              <p:cNvSpPr txBox="1"/>
              <p:nvPr/>
            </p:nvSpPr>
            <p:spPr>
              <a:xfrm>
                <a:off x="870156" y="1103796"/>
                <a:ext cx="8631493" cy="57542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x</a:t>
                </a:r>
                <a:r>
                  <a:rPr lang="ru-RU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) – численность популяции в момент времени </a:t>
                </a:r>
                <a:r>
                  <a:rPr lang="en-US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относительное изменение численности за время Δ</a:t>
                </a:r>
                <a:r>
                  <a:rPr lang="en-US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)−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 ∆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если эта величина – константа, тогда:</a:t>
                </a: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)−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 ∆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=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𝛼</m:t>
                      </m:r>
                    </m:oMath>
                  </m:oMathPara>
                </a14:m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Переходя к пределу, получаем обыкновенное дифференциальное уравнение:</a:t>
                </a: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С начальным условием:</a:t>
                </a: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(0)=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b="1" dirty="0">
                    <a:solidFill>
                      <a:srgbClr val="6600CC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Решение уравнения</a:t>
                </a: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d>
                        <m:d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ru-R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89A554-614B-4E86-809A-FC1FF6B1B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56" y="1103796"/>
                <a:ext cx="8631493" cy="5754204"/>
              </a:xfrm>
              <a:prstGeom prst="rect">
                <a:avLst/>
              </a:prstGeom>
              <a:blipFill>
                <a:blip r:embed="rId2"/>
                <a:stretch>
                  <a:fillRect l="-777" t="-424" r="-7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38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B7BE91-2B33-49D4-A570-CC0DCD628DD2}"/>
                  </a:ext>
                </a:extLst>
              </p:cNvPr>
              <p:cNvSpPr txBox="1"/>
              <p:nvPr/>
            </p:nvSpPr>
            <p:spPr>
              <a:xfrm>
                <a:off x="604684" y="464757"/>
                <a:ext cx="11297264" cy="5494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lang="ru-RU" sz="28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Модель </a:t>
                </a:r>
                <a:r>
                  <a:rPr lang="ru-RU" sz="2800" b="1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Ферхюльста</a:t>
                </a:r>
                <a:r>
                  <a:rPr lang="ru-RU" sz="28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(логистическая модель)</a:t>
                </a:r>
              </a:p>
              <a:p>
                <a:pPr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	Любая экологическая ниша может обеспечить существование популяции только определенной численности </a:t>
                </a:r>
                <a:r>
                  <a:rPr lang="en-US" sz="2000" dirty="0" err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000" baseline="-25000" dirty="0" err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max</a:t>
                </a:r>
                <a:r>
                  <a:rPr lang="en-US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	Измеряя численность популяции в относительных единицах: </a:t>
                </a:r>
                <a:r>
                  <a:rPr lang="en-US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X</a:t>
                </a:r>
                <a:r>
                  <a:rPr lang="ru-RU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 = </a:t>
                </a:r>
                <a:r>
                  <a:rPr lang="en-US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x</a:t>
                </a:r>
                <a:r>
                  <a:rPr lang="ru-RU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/</a:t>
                </a: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000" baseline="-25000" dirty="0" err="1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max</a:t>
                </a: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Тогда относительная скорость прироста:</a:t>
                </a: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)−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 ∆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=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 </m:t>
                      </m:r>
                    </m:oMath>
                  </m:oMathPara>
                </a14:m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Дифференциальное уравнение с начальным условием:</a:t>
                </a: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</m:oMath>
                  </m:oMathPara>
                </a14:m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(0)=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b="1" dirty="0">
                    <a:solidFill>
                      <a:srgbClr val="6600CC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Решение: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B7BE91-2B33-49D4-A570-CC0DCD628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84" y="464757"/>
                <a:ext cx="11297264" cy="5494581"/>
              </a:xfrm>
              <a:prstGeom prst="rect">
                <a:avLst/>
              </a:prstGeom>
              <a:blipFill>
                <a:blip r:embed="rId2"/>
                <a:stretch>
                  <a:fillRect l="-540" t="-1109" r="-5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42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4">
            <a:extLst>
              <a:ext uri="{FF2B5EF4-FFF2-40B4-BE49-F238E27FC236}">
                <a16:creationId xmlns:a16="http://schemas.microsoft.com/office/drawing/2014/main" id="{23D9360C-4AC0-4898-82C1-3134FC76B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161" y="229396"/>
            <a:ext cx="59288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sz="2800" b="1" dirty="0">
                <a:solidFill>
                  <a:srgbClr val="0000FF"/>
                </a:solidFill>
                <a:cs typeface="Arial" panose="020B0604020202020204" pitchFamily="34" charset="0"/>
              </a:rPr>
              <a:t>Модель </a:t>
            </a:r>
            <a:r>
              <a:rPr lang="ru-RU" sz="2800" b="1" dirty="0" err="1">
                <a:solidFill>
                  <a:srgbClr val="0000FF"/>
                </a:solidFill>
                <a:cs typeface="Arial" panose="020B0604020202020204" pitchFamily="34" charset="0"/>
              </a:rPr>
              <a:t>безымунной</a:t>
            </a:r>
            <a:r>
              <a:rPr lang="ru-RU" sz="2800" b="1" dirty="0">
                <a:solidFill>
                  <a:srgbClr val="0000FF"/>
                </a:solidFill>
                <a:cs typeface="Arial" panose="020B0604020202020204" pitchFamily="34" charset="0"/>
              </a:rPr>
              <a:t> эпидемии</a:t>
            </a:r>
            <a:endParaRPr lang="ru-RU" altLang="ru-RU" sz="2800" b="1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ED9243-CDD3-47AD-B8B3-C058EB5DED18}"/>
                  </a:ext>
                </a:extLst>
              </p:cNvPr>
              <p:cNvSpPr txBox="1"/>
              <p:nvPr/>
            </p:nvSpPr>
            <p:spPr>
              <a:xfrm>
                <a:off x="243348" y="752616"/>
                <a:ext cx="11636477" cy="6114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49580" algn="just"/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Пусть имеется 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здоровых людей, и в момент времени 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= 0 в эту группу попадает один заболевший человек (источник инфекции). Предположим, что удаления заболевших из группы (изоляция) не происходит и человек становится источником инфекции сразу же, как заразился сам.</a:t>
                </a:r>
                <a:endParaRPr lang="ru-RU" sz="20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indent="449580" algn="l"/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x(t)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число источников инфекции в момент времени 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</a:t>
                </a:r>
                <a:endParaRPr lang="ru-RU" sz="20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indent="449580" algn="just"/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y(t) –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число еще не заболевших (часть из них, естественно, может заболеть с течением времени). </a:t>
                </a:r>
                <a:endParaRPr lang="ru-RU" sz="20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indent="449580" algn="just"/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Очевидно, что 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х(t)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+ 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y(t) = N +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1 в любой момент времени 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причем при 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= 0 выполняется условие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1. </a:t>
                </a:r>
              </a:p>
              <a:p>
                <a:pPr indent="449580" algn="just"/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Рассмотрим интервал времени 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t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+∆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t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где ∆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t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достаточно мало. Естественно, что число больных ∆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х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появившихся за этот интервал, пропорционально ∆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endParaRPr lang="ru-RU" sz="20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indent="449580" algn="just"/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Естественно также предположить, что это число пропорционально числу контактов между больными и здоровыми, т.е. произведению 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x(t)y(t).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Таким образом, ∆x≈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αx(t)y(t)</a:t>
                </a:r>
                <a:r>
                  <a:rPr lang="ru-RU" sz="2000" i="1" dirty="0" err="1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dt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где 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α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– коэффициент пропорциональности, учитывая смертность, как уменьшение числа источников инфекции на с</a:t>
                </a:r>
                <a:r>
                  <a:rPr lang="ru-RU" sz="2000" i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x(t)</a:t>
                </a:r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</a:p>
              <a:p>
                <a:pPr indent="449580" algn="just"/>
                <a:r>
                  <a:rPr lang="ru-RU" sz="2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В пределе получим дифференциальное уравнение с начальным условием:</a:t>
                </a:r>
                <a:endParaRPr lang="ru-RU" sz="20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ru-RU" sz="20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+1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(0)=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ED9243-CDD3-47AD-B8B3-C058EB5DE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48" y="752616"/>
                <a:ext cx="11636477" cy="6114046"/>
              </a:xfrm>
              <a:prstGeom prst="rect">
                <a:avLst/>
              </a:prstGeom>
              <a:blipFill>
                <a:blip r:embed="rId2"/>
                <a:stretch>
                  <a:fillRect l="-576" t="-399" r="-5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80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246B92A1-9C2D-4381-A3C8-C37807A53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16" y="1339195"/>
            <a:ext cx="92841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cs typeface="Arial" panose="020B0604020202020204" pitchFamily="34" charset="0"/>
              </a:rPr>
              <a:t>      Требуется найти функцию  </a:t>
            </a:r>
            <a:r>
              <a:rPr lang="en-US" altLang="ru-RU" sz="2000" dirty="0">
                <a:cs typeface="Arial" panose="020B0604020202020204" pitchFamily="34" charset="0"/>
              </a:rPr>
              <a:t>y(t)</a:t>
            </a:r>
            <a:r>
              <a:rPr lang="ru-RU" altLang="ru-RU" sz="2000" dirty="0">
                <a:cs typeface="Arial" panose="020B0604020202020204" pitchFamily="34" charset="0"/>
              </a:rPr>
              <a:t>, удовлетворяющую дифференциальному уравнению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B264A67D-AA55-4D94-8020-93622B31871B}"/>
                  </a:ext>
                </a:extLst>
              </p:cNvPr>
              <p:cNvSpPr txBox="1"/>
              <p:nvPr/>
            </p:nvSpPr>
            <p:spPr bwMode="auto">
              <a:xfrm>
                <a:off x="2509838" y="2181225"/>
                <a:ext cx="5343525" cy="7858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)), 0&lt;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B264A67D-AA55-4D94-8020-93622B318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9838" y="2181225"/>
                <a:ext cx="5343525" cy="7858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FAEF050-88FD-497B-86CA-F0FFD1F45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636" y="3228945"/>
            <a:ext cx="79478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cs typeface="Arial" panose="020B0604020202020204" pitchFamily="34" charset="0"/>
              </a:rPr>
              <a:t>где </a:t>
            </a:r>
            <a:r>
              <a:rPr lang="en-US" altLang="ru-RU" sz="2000" i="1" dirty="0">
                <a:cs typeface="Arial" panose="020B0604020202020204" pitchFamily="34" charset="0"/>
              </a:rPr>
              <a:t>f</a:t>
            </a:r>
            <a:r>
              <a:rPr lang="ru-RU" altLang="ru-RU" sz="2000" dirty="0">
                <a:cs typeface="Arial" panose="020B0604020202020204" pitchFamily="34" charset="0"/>
              </a:rPr>
              <a:t>(</a:t>
            </a:r>
            <a:r>
              <a:rPr lang="en-US" altLang="ru-RU" sz="2000" i="1" dirty="0">
                <a:cs typeface="Arial" panose="020B0604020202020204" pitchFamily="34" charset="0"/>
              </a:rPr>
              <a:t>t</a:t>
            </a:r>
            <a:r>
              <a:rPr lang="ru-RU" altLang="ru-RU" sz="2000" dirty="0">
                <a:cs typeface="Arial" panose="020B0604020202020204" pitchFamily="34" charset="0"/>
              </a:rPr>
              <a:t>,</a:t>
            </a:r>
            <a:r>
              <a:rPr lang="ru-RU" altLang="ru-RU" sz="2000" i="1" dirty="0">
                <a:cs typeface="Arial" panose="020B0604020202020204" pitchFamily="34" charset="0"/>
              </a:rPr>
              <a:t> </a:t>
            </a:r>
            <a:r>
              <a:rPr lang="en-US" altLang="ru-RU" sz="2000" i="1" dirty="0">
                <a:cs typeface="Arial" panose="020B0604020202020204" pitchFamily="34" charset="0"/>
              </a:rPr>
              <a:t>y</a:t>
            </a:r>
            <a:r>
              <a:rPr lang="ru-RU" altLang="ru-RU" sz="2000" dirty="0">
                <a:cs typeface="Arial" panose="020B0604020202020204" pitchFamily="34" charset="0"/>
              </a:rPr>
              <a:t>(</a:t>
            </a:r>
            <a:r>
              <a:rPr lang="en-US" altLang="ru-RU" sz="2000" i="1" dirty="0">
                <a:cs typeface="Arial" panose="020B0604020202020204" pitchFamily="34" charset="0"/>
              </a:rPr>
              <a:t>t</a:t>
            </a:r>
            <a:r>
              <a:rPr lang="ru-RU" altLang="ru-RU" sz="2000" dirty="0">
                <a:cs typeface="Arial" panose="020B0604020202020204" pitchFamily="34" charset="0"/>
              </a:rPr>
              <a:t>)) – заданная непрерывная функцию двух аргументов. </a:t>
            </a:r>
          </a:p>
        </p:txBody>
      </p:sp>
      <p:sp>
        <p:nvSpPr>
          <p:cNvPr id="10" name="Прямоугольник 4">
            <a:extLst>
              <a:ext uri="{FF2B5EF4-FFF2-40B4-BE49-F238E27FC236}">
                <a16:creationId xmlns:a16="http://schemas.microsoft.com/office/drawing/2014/main" id="{904E45E6-B1D3-4357-B3E2-704F6D5AF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271" y="417513"/>
            <a:ext cx="7705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solidFill>
                  <a:srgbClr val="0000FF"/>
                </a:solidFill>
              </a:rPr>
              <a:t>Численное решение задачи:</a:t>
            </a:r>
          </a:p>
        </p:txBody>
      </p:sp>
    </p:spTree>
    <p:extLst>
      <p:ext uri="{BB962C8B-B14F-4D97-AF65-F5344CB8AC3E}">
        <p14:creationId xmlns:p14="http://schemas.microsoft.com/office/powerpoint/2010/main" val="2740751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Rectangle 2">
            <a:extLst>
              <a:ext uri="{FF2B5EF4-FFF2-40B4-BE49-F238E27FC236}">
                <a16:creationId xmlns:a16="http://schemas.microsoft.com/office/drawing/2014/main" id="{D083498E-1003-4187-AC0D-B62B2CB55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5" y="112713"/>
            <a:ext cx="2706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solidFill>
                  <a:srgbClr val="0000FF"/>
                </a:solidFill>
              </a:rPr>
              <a:t>Метод Эйлера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Object 8">
                <a:extLst>
                  <a:ext uri="{FF2B5EF4-FFF2-40B4-BE49-F238E27FC236}">
                    <a16:creationId xmlns:a16="http://schemas.microsoft.com/office/drawing/2014/main" id="{D2A86B52-6F35-4C57-864D-45B104D58D77}"/>
                  </a:ext>
                </a:extLst>
              </p:cNvPr>
              <p:cNvSpPr txBox="1"/>
              <p:nvPr/>
            </p:nvSpPr>
            <p:spPr bwMode="auto">
              <a:xfrm>
                <a:off x="3143250" y="1268413"/>
                <a:ext cx="5545138" cy="9017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l-G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τ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; 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τ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; 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limUpp>
                            <m:limUpp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lim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_____</m:t>
                              </m:r>
                            </m:lim>
                          </m:limUp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194" name="Object 8">
                <a:extLst>
                  <a:ext uri="{FF2B5EF4-FFF2-40B4-BE49-F238E27FC236}">
                    <a16:creationId xmlns:a16="http://schemas.microsoft.com/office/drawing/2014/main" id="{D2A86B52-6F35-4C57-864D-45B104D58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3250" y="1268413"/>
                <a:ext cx="5545138" cy="9017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Object 7">
                <a:extLst>
                  <a:ext uri="{FF2B5EF4-FFF2-40B4-BE49-F238E27FC236}">
                    <a16:creationId xmlns:a16="http://schemas.microsoft.com/office/drawing/2014/main" id="{AED10C1F-13C6-468D-A700-4EAB2E9DE093}"/>
                  </a:ext>
                </a:extLst>
              </p:cNvPr>
              <p:cNvSpPr txBox="1"/>
              <p:nvPr/>
            </p:nvSpPr>
            <p:spPr bwMode="auto">
              <a:xfrm>
                <a:off x="5951538" y="1915083"/>
                <a:ext cx="1042988" cy="5032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ru-RU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195" name="Object 7">
                <a:extLst>
                  <a:ext uri="{FF2B5EF4-FFF2-40B4-BE49-F238E27FC236}">
                    <a16:creationId xmlns:a16="http://schemas.microsoft.com/office/drawing/2014/main" id="{AED10C1F-13C6-468D-A700-4EAB2E9DE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1538" y="1915083"/>
                <a:ext cx="1042988" cy="5032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Object 3">
                <a:extLst>
                  <a:ext uri="{FF2B5EF4-FFF2-40B4-BE49-F238E27FC236}">
                    <a16:creationId xmlns:a16="http://schemas.microsoft.com/office/drawing/2014/main" id="{8A30A1F5-8BD1-4B21-AB3C-D3EFA8647344}"/>
                  </a:ext>
                </a:extLst>
              </p:cNvPr>
              <p:cNvSpPr txBox="1"/>
              <p:nvPr/>
            </p:nvSpPr>
            <p:spPr bwMode="auto">
              <a:xfrm>
                <a:off x="3287713" y="5084763"/>
                <a:ext cx="6192837" cy="4762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 1, 2,..., 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267" name="Object 3">
                <a:extLst>
                  <a:ext uri="{FF2B5EF4-FFF2-40B4-BE49-F238E27FC236}">
                    <a16:creationId xmlns:a16="http://schemas.microsoft.com/office/drawing/2014/main" id="{8A30A1F5-8BD1-4B21-AB3C-D3EFA8647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7713" y="5084763"/>
                <a:ext cx="6192837" cy="476250"/>
              </a:xfrm>
              <a:prstGeom prst="rect">
                <a:avLst/>
              </a:prstGeom>
              <a:blipFill>
                <a:blip r:embed="rId4"/>
                <a:stretch>
                  <a:fillRect t="-1282" b="-25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1" name="Rectangle 9">
                <a:extLst>
                  <a:ext uri="{FF2B5EF4-FFF2-40B4-BE49-F238E27FC236}">
                    <a16:creationId xmlns:a16="http://schemas.microsoft.com/office/drawing/2014/main" id="{3B3A4B69-14EB-4A60-B9DE-7F5AF65F5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4826" y="620713"/>
                <a:ext cx="8353425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ru-RU" altLang="ru-RU" dirty="0">
                    <a:cs typeface="Arial" panose="020B0604020202020204" pitchFamily="34" charset="0"/>
                  </a:rPr>
                  <a:t>       Пусть на отрезке [</a:t>
                </a:r>
                <a:r>
                  <a:rPr lang="en-US" altLang="ru-RU" dirty="0">
                    <a:cs typeface="Arial" panose="020B0604020202020204" pitchFamily="34" charset="0"/>
                  </a:rPr>
                  <a:t>0</a:t>
                </a:r>
                <a:r>
                  <a:rPr lang="ru-RU" altLang="ru-RU" dirty="0">
                    <a:cs typeface="Arial" panose="020B0604020202020204" pitchFamily="34" charset="0"/>
                  </a:rPr>
                  <a:t>, </a:t>
                </a:r>
                <a:r>
                  <a:rPr lang="en-US" altLang="ru-RU" dirty="0">
                    <a:cs typeface="Arial" panose="020B0604020202020204" pitchFamily="34" charset="0"/>
                  </a:rPr>
                  <a:t>T</a:t>
                </a:r>
                <a:r>
                  <a:rPr lang="ru-RU" altLang="ru-RU" dirty="0">
                    <a:cs typeface="Arial" panose="020B0604020202020204" pitchFamily="34" charset="0"/>
                  </a:rPr>
                  <a:t>] ищется решение задачи Коши, построим на этом отрезке сетку с постоянным шагом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endParaRPr lang="ru-RU" altLang="ru-RU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201" name="Rectangle 9">
                <a:extLst>
                  <a:ext uri="{FF2B5EF4-FFF2-40B4-BE49-F238E27FC236}">
                    <a16:creationId xmlns:a16="http://schemas.microsoft.com/office/drawing/2014/main" id="{3B3A4B69-14EB-4A60-B9DE-7F5AF65F53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4826" y="620713"/>
                <a:ext cx="8353425" cy="641350"/>
              </a:xfrm>
              <a:prstGeom prst="rect">
                <a:avLst/>
              </a:prstGeom>
              <a:blipFill>
                <a:blip r:embed="rId5"/>
                <a:stretch>
                  <a:fillRect l="-584" t="-5714" r="-803" b="-1523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2" name="Rectangle 10">
            <a:extLst>
              <a:ext uri="{FF2B5EF4-FFF2-40B4-BE49-F238E27FC236}">
                <a16:creationId xmlns:a16="http://schemas.microsoft.com/office/drawing/2014/main" id="{2F80BBD7-4A49-49A1-9513-77012DAB7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118" y="1862654"/>
            <a:ext cx="8354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cs typeface="Arial" panose="020B0604020202020204" pitchFamily="34" charset="0"/>
              </a:rPr>
              <a:t>Заменим производную функции в точке                      разностным аналогом: </a:t>
            </a:r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E031ECB0-71F4-42F6-92DD-518DC7A8C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597553"/>
            <a:ext cx="73989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cs typeface="Times New Roman" panose="02020603050405020304" pitchFamily="18" charset="0"/>
              </a:rPr>
              <a:t>Тогда дифференциальное уравнение можно заменить разностным:</a:t>
            </a:r>
            <a:endParaRPr lang="ru-RU" altLang="ru-RU" dirty="0"/>
          </a:p>
        </p:txBody>
      </p: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EB0B1047-1DE3-4B69-B0A5-09381E94E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534178"/>
            <a:ext cx="60908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cs typeface="Times New Roman" panose="02020603050405020304" pitchFamily="18" charset="0"/>
              </a:rPr>
              <a:t>Окончательно вычислительная процедура примет вид </a:t>
            </a:r>
            <a:endParaRPr lang="ru-RU" altLang="ru-RU" dirty="0"/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AB3EA6A5-F9D6-48DC-A752-03F2B778E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5" y="5013326"/>
            <a:ext cx="6408738" cy="720725"/>
          </a:xfrm>
          <a:prstGeom prst="rect">
            <a:avLst/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8208" name="Номер слайда 15">
            <a:extLst>
              <a:ext uri="{FF2B5EF4-FFF2-40B4-BE49-F238E27FC236}">
                <a16:creationId xmlns:a16="http://schemas.microsoft.com/office/drawing/2014/main" id="{94C5F230-1914-4113-8831-6B0B47B7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435E09-F467-40F7-A429-36C55F7BB64E}" type="slidenum">
              <a:rPr lang="ru-RU" altLang="ru-RU"/>
              <a:pPr eaLnBrk="1" hangingPunct="1"/>
              <a:t>8</a:t>
            </a:fld>
            <a:endParaRPr lang="ru-RU" alt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56431F0-D872-4E03-9FDF-017D766E3FA8}"/>
                  </a:ext>
                </a:extLst>
              </p:cNvPr>
              <p:cNvSpPr txBox="1"/>
              <p:nvPr/>
            </p:nvSpPr>
            <p:spPr>
              <a:xfrm>
                <a:off x="2589930" y="2556604"/>
                <a:ext cx="6098458" cy="793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sz="2400" i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– 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56431F0-D872-4E03-9FDF-017D766E3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930" y="2556604"/>
                <a:ext cx="6098458" cy="7935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86989E-769A-470E-8162-888F2D6EB364}"/>
                  </a:ext>
                </a:extLst>
              </p:cNvPr>
              <p:cNvSpPr txBox="1"/>
              <p:nvPr/>
            </p:nvSpPr>
            <p:spPr>
              <a:xfrm>
                <a:off x="2795946" y="3983235"/>
                <a:ext cx="6098458" cy="566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86989E-769A-470E-8162-888F2D6EB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946" y="3983235"/>
                <a:ext cx="6098458" cy="5666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7" grpId="0"/>
      <p:bldP spid="11278" grpId="0"/>
      <p:bldP spid="1128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EC6913-2823-455A-B46F-36E0DFB39ED5}"/>
              </a:ext>
            </a:extLst>
          </p:cNvPr>
          <p:cNvSpPr txBox="1"/>
          <p:nvPr/>
        </p:nvSpPr>
        <p:spPr>
          <a:xfrm>
            <a:off x="304523" y="458956"/>
            <a:ext cx="11371561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66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Задание по Расчетной работе № 3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 помощью пакета 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Wolfram Mathematica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Для модели Мальтуса получить аналитическое решение. Изобразить график численности популяции в зависимости от времени.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Исследовать влияние параметров на вид решения.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Построить график зависимости скорости прироста от численности (фазовую диаграмму).</a:t>
            </a:r>
          </a:p>
          <a:p>
            <a:pPr marL="342900" lvl="0" indent="-342900" algn="just">
              <a:spcAft>
                <a:spcPts val="800"/>
              </a:spcAft>
              <a:buFont typeface="+mj-lt"/>
              <a:buAutoNum type="arabicPeriod"/>
            </a:pP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Выполнить </a:t>
            </a:r>
            <a:r>
              <a:rPr lang="ru-RU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пп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1–3 для модели </a:t>
            </a:r>
            <a:r>
              <a:rPr lang="ru-RU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Ферхюльста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spcAft>
                <a:spcPts val="800"/>
              </a:spcAft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Выполнить </a:t>
            </a:r>
            <a:r>
              <a:rPr lang="ru-RU" sz="2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пп</a:t>
            </a:r>
            <a:r>
              <a:rPr lang="ru-RU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1–3 для модели </a:t>
            </a:r>
            <a:r>
              <a:rPr lang="ru-RU" sz="2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безымунной</a:t>
            </a:r>
            <a:r>
              <a:rPr lang="ru-RU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эпидемии.</a:t>
            </a:r>
            <a:endParaRPr lang="ru-RU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742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BBA400E8-70B8-D309-1270-A8A5FA350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0" y="1061707"/>
            <a:ext cx="12069859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84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Шрифт, линия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85E5BEE8-B8AE-993B-1F08-6EBD4C392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33" y="1482250"/>
            <a:ext cx="12022228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67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8C867358-FA0A-FC8A-6DC6-408B6E2D0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73" y="742118"/>
            <a:ext cx="11098174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393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10636</TotalTime>
  <Words>733</Words>
  <Application>Microsoft Office PowerPoint</Application>
  <PresentationFormat>Широкоэкранный</PresentationFormat>
  <Paragraphs>70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Тема Office</vt:lpstr>
      <vt:lpstr>Расчетная работа № 3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q1nvy</cp:lastModifiedBy>
  <cp:revision>29</cp:revision>
  <dcterms:created xsi:type="dcterms:W3CDTF">2020-09-29T18:08:37Z</dcterms:created>
  <dcterms:modified xsi:type="dcterms:W3CDTF">2025-11-05T09:27:01Z</dcterms:modified>
</cp:coreProperties>
</file>