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8" r:id="rId4"/>
    <p:sldId id="259" r:id="rId5"/>
    <p:sldId id="260" r:id="rId6"/>
    <p:sldId id="266" r:id="rId7"/>
    <p:sldId id="272" r:id="rId8"/>
    <p:sldId id="261" r:id="rId9"/>
    <p:sldId id="27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66" d="100"/>
          <a:sy n="66" d="100"/>
        </p:scale>
        <p:origin x="2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C8C01-B142-4DAC-B78F-E84F72EBB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62C429-0F6A-4619-B261-0A00F28AC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A368AE-8743-4249-903E-3CBDCC39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983518-1D60-4A02-8FAD-7C5A7116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8C8316-FF5B-457B-ACEB-D49B6D36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4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891DCF-1D15-4E90-9156-63C12035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E88E5B-E337-4547-A2E9-0E579F917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9957C5-4A26-48AA-881E-037651193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985269-C496-41EF-A8B5-CCDD2E72B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357755-19F9-419A-8628-6D36D814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80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DAC6D-024B-4B5C-A4B9-7852EFD1B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A44460-8A6E-4343-B46A-C3DDB686D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834909-113D-467A-9F53-29D578DF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789F3D-8C7E-4AAD-B7DE-D18D44A24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237705-8B23-461E-A9A1-70BA1E64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58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A126D-D6DE-4863-8D48-A21F71C4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C55CE8-FEE0-47C1-86AA-6DFCE00FE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D869C6-9515-4411-8777-39D7A86D3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E80234-6732-4BBF-B683-5A8E8CE6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3A5B2F-231E-464D-8FA8-B3D06508E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C26540-39B5-48DD-80A6-3D942141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13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66775-2A40-46B6-84FF-1E3C61716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926724-9405-4030-87AE-57C836BC6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53AB78-9E23-45C5-8FB2-A8E46180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405B6D-8331-4CFE-9C8C-3D57C8ABA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8F8FF9-C197-4A07-942A-0447FE3025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0341D3-5E3F-423F-BC5F-B0C70289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47B61F3-E82B-49F3-B148-B98C1B37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6765C16-8375-4BA7-B061-62F5B3E7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90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78683-7433-41C1-AEA1-9DF45CFD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25E0BC-9334-43CE-9222-03E40BA2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3AF3938-CA7E-435D-85E3-09994939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B4F7AD-44EE-49DA-8604-630812AD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70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C37F00B-BF72-4259-9E47-62BE3F88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BE2CEE-5A61-49BD-93D6-2951AF72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BD6BE5-8BB9-4023-A689-2EBCAA76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79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D6E2F-5299-474B-9754-11D52344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8EC61-7164-4F32-ADED-FB11BF4A3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7E3065-DCE1-4BA2-884D-013BAAF71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05405A-83A9-46B7-B5C2-6ED49C10E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BB5EF9-ABAD-49EE-8B35-A8E11EE7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3978ED-C0DF-4D45-8112-F5FF7D87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46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3CFD61-1BAE-437F-85A7-2B599DC9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F50B486-3818-4540-BC24-0F8257575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FF2F85-C6A6-487E-BB1A-D72F00115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6B69C-85F5-4187-BADF-B2A63002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466CBB-3F64-48C0-9CF2-B8D78F93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F70B47-E708-4B8B-B6FA-0A202BCA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09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C669B-C148-466D-984C-92476145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7CEE5C-DA73-421F-A7F2-498E53418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0D9F3B-4548-4165-AC63-C7C95F21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0971AB-C32D-4668-80E2-6CCD80C0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709F6-AE7A-460C-A87A-1F2E086F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16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99D6B3-3683-4933-A560-17DC88D3E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91E0E0-9D9A-40E6-9963-EF5FB4C4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4EE335-33A7-44B2-B26F-3347F8AF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AF186-E2C8-4DF4-93FA-6FB35493C8A2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28AFC8-32B9-4146-8605-51A68894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32BF18-98AC-4500-A7B7-7F1D40ED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05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1B487-32DE-4F17-BBFC-CFA10FA4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9DE7F5-C519-4B6E-89C2-A331BA47A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6D9705-273A-4F2D-91AD-D6742F443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AF186-E2C8-4DF4-93FA-6FB35493C8A2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9A8D98-5836-4317-A7CF-B7FBC90FB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8DF21C-306D-4A71-BF9E-421398AEE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E709C-71FE-46C3-A12A-38488E449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42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51677-05D6-4E3C-8379-CF29F31253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3371" y="362858"/>
            <a:ext cx="9144000" cy="839334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0000FF"/>
                </a:solidFill>
              </a:rPr>
              <a:t>Расчетная работа № 1-5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8853FF-C89C-40A6-ABFB-6DEA3ED7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44584"/>
            <a:ext cx="9144000" cy="444301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Движение подводной лодки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BC395A-51B0-4CD8-8277-2549DE20D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2" y="2432503"/>
            <a:ext cx="806767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51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Номер слайда 20">
            <a:extLst>
              <a:ext uri="{FF2B5EF4-FFF2-40B4-BE49-F238E27FC236}">
                <a16:creationId xmlns:a16="http://schemas.microsoft.com/office/drawing/2014/main" id="{BE101006-45F4-41B6-8E9F-F73B0001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A265B5-A376-429C-A96E-94A584D6359A}" type="slidenum">
              <a:rPr lang="ru-RU" altLang="ru-RU"/>
              <a:pPr eaLnBrk="1" hangingPunct="1"/>
              <a:t>2</a:t>
            </a:fld>
            <a:endParaRPr lang="ru-RU" alt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4C736B7-F06A-4041-AEAC-AD13079D9487}"/>
              </a:ext>
            </a:extLst>
          </p:cNvPr>
          <p:cNvSpPr/>
          <p:nvPr/>
        </p:nvSpPr>
        <p:spPr>
          <a:xfrm>
            <a:off x="604158" y="1351756"/>
            <a:ext cx="1074964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Подводная лодка, находящаяся в момент времени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на глубине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от поверхности моря и движущаяся с постоянной горизонтальной скоростью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получает приказ подняться на поверхность. </a:t>
            </a:r>
          </a:p>
          <a:p>
            <a:pPr eaLnBrk="1" hangingPunct="1">
              <a:defRPr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математическую модель, позволяющую описать движение всплывающей подводной лодки .</a:t>
            </a:r>
          </a:p>
          <a:p>
            <a:pPr eaLnBrk="1" hangingPunct="1"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Модель должна позволять: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вычислять положение лодки в любой момент времени;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определять горизонтальное перемещение и время всплытия при различных начальных данных.</a:t>
            </a:r>
          </a:p>
          <a:p>
            <a:pPr eaLnBrk="1" hangingPunct="1"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Исходные данные: 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Функция изменения общей плотности лодки; 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начальные координаты, начальная скорость лодки;</a:t>
            </a:r>
          </a:p>
          <a:p>
            <a:pPr marL="285750" indent="-285750" eaLnBrk="1" hangingPunct="1">
              <a:buFont typeface="Arial" pitchFamily="34" charset="0"/>
              <a:buChar char="•"/>
              <a:defRPr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плотность и коэффициент сопротивления воды.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4E16C86E-9248-4B5E-B595-F4515A9ED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54" y="548764"/>
            <a:ext cx="7343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dirty="0">
                <a:solidFill>
                  <a:srgbClr val="0000FF"/>
                </a:solidFill>
              </a:rPr>
              <a:t>Содержательная постановка задачи</a:t>
            </a:r>
          </a:p>
        </p:txBody>
      </p:sp>
    </p:spTree>
    <p:extLst>
      <p:ext uri="{BB962C8B-B14F-4D97-AF65-F5344CB8AC3E}">
        <p14:creationId xmlns:p14="http://schemas.microsoft.com/office/powerpoint/2010/main" val="112888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59B519-9821-48C0-8940-B1213F698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054" y="548764"/>
            <a:ext cx="73437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dirty="0">
                <a:solidFill>
                  <a:srgbClr val="0000FF"/>
                </a:solidFill>
              </a:rPr>
              <a:t>Концептуальная 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16AFA4DD-AB22-4DED-97F5-F5C1A8422FA9}"/>
                  </a:ext>
                </a:extLst>
              </p:cNvPr>
              <p:cNvSpPr/>
              <p:nvPr/>
            </p:nvSpPr>
            <p:spPr>
              <a:xfrm>
                <a:off x="653640" y="1283007"/>
                <a:ext cx="11282546" cy="46782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Рассмотрим процесс всплытия подводной лодки с глубины. Резервуары лодки освобождаются от воды и заполняются воздухом, чтобы ее средняя плотность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стала меньше плотности воды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.Тогда на лодку начинает действовать выталкивающая сила Архимеда, большая, чем вес лодки. Кроме того, действует сила сопротивления воды</a:t>
                </a:r>
              </a:p>
              <a:p>
                <a:pPr eaLnBrk="1" hangingPunct="1">
                  <a:defRPr/>
                </a:pPr>
                <a:endParaRPr lang="ru-R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defRPr/>
                </a:pPr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Гипотезы: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eaLnBrk="1" hangingPunct="1">
                  <a:buFont typeface="+mj-lt"/>
                  <a:buAutoNum type="arabicPeriod"/>
                  <a:defRPr/>
                </a:pPr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объектом моделирования является подводная лодки;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eaLnBrk="1" hangingPunct="1">
                  <a:buFont typeface="+mj-lt"/>
                  <a:buAutoNum type="arabicPeriod"/>
                  <a:defRPr/>
                </a:pPr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лодку будем считать материальной точкой переменной массы, положение которой совпадает с центром масс;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eaLnBrk="1" hangingPunct="1">
                  <a:buFont typeface="+mj-lt"/>
                  <a:buAutoNum type="arabicPeriod"/>
                  <a:defRPr/>
                </a:pPr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движение происходит в поле сил тяжести с постоянным ускорением свободного падения </a:t>
                </a:r>
                <a:r>
                  <a:rPr lang="ru-RU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под действием силы Архимеда и описывается уравнениями классической механики Ньютона;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eaLnBrk="1" hangingPunct="1">
                  <a:buFont typeface="+mj-lt"/>
                  <a:buAutoNum type="arabicPeriod"/>
                  <a:defRPr/>
                </a:pPr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движение лодки происходит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в одной плоскости, перпендикулярной поверхности Земли ;</a:t>
                </a:r>
              </a:p>
              <a:p>
                <a:pPr marL="457200" indent="-457200" eaLnBrk="1" hangingPunct="1">
                  <a:buFont typeface="+mj-lt"/>
                  <a:buAutoNum type="arabicPeriod" startAt="5"/>
                  <a:defRPr/>
                </a:pPr>
                <a:r>
                  <a:rPr lang="ru-RU" sz="2000" dirty="0">
                    <a:solidFill>
                      <a:srgbClr val="66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пренебрегаем сопротивлением</a:t>
                </a:r>
                <a:r>
                  <a:rPr lang="en-US" sz="2000" dirty="0">
                    <a:solidFill>
                      <a:srgbClr val="66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ru-RU" sz="2000" dirty="0">
                    <a:solidFill>
                      <a:srgbClr val="66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воды и изменением плотности лодки.</a:t>
                </a:r>
                <a:endParaRPr lang="ru-R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defRPr/>
                </a:pPr>
                <a:endParaRPr lang="ru-R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16AFA4DD-AB22-4DED-97F5-F5C1A8422F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40" y="1283007"/>
                <a:ext cx="11282546" cy="4678204"/>
              </a:xfrm>
              <a:prstGeom prst="rect">
                <a:avLst/>
              </a:prstGeom>
              <a:blipFill>
                <a:blip r:embed="rId2"/>
                <a:stretch>
                  <a:fillRect l="-540" t="-521" r="-3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23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4">
            <a:extLst>
              <a:ext uri="{FF2B5EF4-FFF2-40B4-BE49-F238E27FC236}">
                <a16:creationId xmlns:a16="http://schemas.microsoft.com/office/drawing/2014/main" id="{3246F202-6995-43B4-AFC9-8EC4A20E8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271" y="417513"/>
            <a:ext cx="7705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800" b="1" dirty="0">
                <a:solidFill>
                  <a:srgbClr val="0000FF"/>
                </a:solidFill>
              </a:rPr>
              <a:t>Математическая постановка: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89A554-614B-4E86-809A-FC1FF6B1B1AE}"/>
                  </a:ext>
                </a:extLst>
              </p:cNvPr>
              <p:cNvSpPr txBox="1"/>
              <p:nvPr/>
            </p:nvSpPr>
            <p:spPr>
              <a:xfrm>
                <a:off x="870156" y="1103796"/>
                <a:ext cx="10951730" cy="51742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b="1" dirty="0">
                    <a:solidFill>
                      <a:srgbClr val="66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Уравнения движения лодки </a:t>
                </a:r>
              </a:p>
              <a:p>
                <a:pPr marL="25082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𝑔𝑉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–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</a:rPr>
                        <m:t>𝑔𝑉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</a:rPr>
                        <m:t>𝑉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/>
              </a:p>
              <a:p>
                <a:pPr algn="just">
                  <a:spcAft>
                    <a:spcPts val="800"/>
                  </a:spcAft>
                </a:pPr>
                <a:endParaRPr lang="ru-RU" sz="2000" i="1" dirty="0"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i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х</a:t>
                </a:r>
                <a:r>
                  <a:rPr lang="ru-RU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</a:t>
                </a: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), у </a:t>
                </a:r>
                <a:r>
                  <a:rPr lang="ru-RU" sz="2000" i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000" i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</a:t>
                </a:r>
                <a:r>
                  <a:rPr lang="ru-RU" sz="20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)– </a:t>
                </a: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координаты лодки в момент времени </a:t>
                </a:r>
                <a:r>
                  <a:rPr lang="en-US" sz="2000" i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</a:t>
                </a:r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средняя плотность лодки в момент времени </a:t>
                </a:r>
                <a:r>
                  <a:rPr lang="en-US" sz="2000" i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</a:t>
                </a:r>
                <a:r>
                  <a:rPr lang="ru-RU" sz="2000" i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(</a:t>
                </a:r>
                <a:r>
                  <a:rPr lang="en-US" sz="2000" i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const</a:t>
                </a:r>
                <a:r>
                  <a:rPr lang="ru-RU" sz="2000" i="1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)</a:t>
                </a:r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– плотность воды,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– коэффициент сопротивления воды (для начала не учитываем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=0)</a:t>
                </a:r>
              </a:p>
              <a:p>
                <a:pPr algn="just">
                  <a:spcAft>
                    <a:spcPts val="800"/>
                  </a:spcAft>
                </a:pPr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ru-RU" sz="2000" b="1" dirty="0">
                    <a:solidFill>
                      <a:srgbClr val="6600CC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Начальные условия:</a:t>
                </a:r>
              </a:p>
              <a:p>
                <a:pPr>
                  <a:spcAft>
                    <a:spcPts val="800"/>
                  </a:spcAft>
                </a:pPr>
                <a:r>
                  <a:rPr lang="ru-RU" sz="24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(0)=0</m:t>
                    </m:r>
                  </m:oMath>
                </a14:m>
                <a:r>
                  <a:rPr lang="ru-RU" sz="24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,   у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ru-RU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240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400" b="0" i="0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sz="24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                     	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ru-RU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(0)=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ru-RU" sz="24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ru-RU" sz="2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89A554-614B-4E86-809A-FC1FF6B1B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56" y="1103796"/>
                <a:ext cx="10951730" cy="5174237"/>
              </a:xfrm>
              <a:prstGeom prst="rect">
                <a:avLst/>
              </a:prstGeom>
              <a:blipFill>
                <a:blip r:embed="rId2"/>
                <a:stretch>
                  <a:fillRect l="-612" t="-471" b="-16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389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B7BE91-2B33-49D4-A570-CC0DCD628DD2}"/>
                  </a:ext>
                </a:extLst>
              </p:cNvPr>
              <p:cNvSpPr txBox="1"/>
              <p:nvPr/>
            </p:nvSpPr>
            <p:spPr>
              <a:xfrm>
                <a:off x="565594" y="298917"/>
                <a:ext cx="11297264" cy="62394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lang="ru-RU" sz="28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Аналитическое решение</a:t>
                </a:r>
              </a:p>
              <a:p>
                <a:pPr algn="ctr">
                  <a:spcAft>
                    <a:spcPts val="800"/>
                  </a:spcAft>
                </a:pPr>
                <a:endParaRPr lang="ru-RU" sz="2800" b="1" dirty="0">
                  <a:solidFill>
                    <a:srgbClr val="0000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r>
                  <a:rPr lang="ru-RU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Закон движения лодки:   		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𝑔</m:t>
                    </m:r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–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sz="2400" i="1">
                        <a:latin typeface="Cambria Math" panose="02040503050406030204" pitchFamily="18" charset="0"/>
                      </a:rPr>
                      <m:t>–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ru-R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Определим время всплытия лодки:</a:t>
                </a:r>
              </a:p>
              <a:p>
                <a:r>
                  <a:rPr lang="ru-RU" sz="2400" dirty="0"/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𝑔</m:t>
                    </m:r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–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sz="2400" i="1">
                        <a:latin typeface="Cambria Math" panose="02040503050406030204" pitchFamily="18" charset="0"/>
                      </a:rPr>
                      <m:t>–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ru-RU" sz="2400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–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1)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endParaRPr lang="ru-RU" sz="2400" dirty="0"/>
              </a:p>
              <a:p>
                <a:endParaRPr lang="ru-RU" sz="2400" dirty="0"/>
              </a:p>
              <a:p>
                <a:r>
                  <a:rPr lang="ru-RU" sz="2400" dirty="0"/>
                  <a:t>Путь, пройденный лодкой до всплытия (горизонтальное перемещение):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𝑣</m:t>
                      </m:r>
                      <m:rad>
                        <m:radPr>
                          <m:degHide m:val="on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1)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ru-RU" sz="2400" dirty="0"/>
              </a:p>
              <a:p>
                <a:r>
                  <a:rPr lang="ru-RU" sz="2400" dirty="0"/>
                  <a:t>Траектория движения в плоскости Оху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𝑔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400" i="1">
                          <a:latin typeface="Cambria Math" panose="02040503050406030204" pitchFamily="18" charset="0"/>
                        </a:rPr>
                        <m:t>–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ru-R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B7BE91-2B33-49D4-A570-CC0DCD628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94" y="298917"/>
                <a:ext cx="11297264" cy="6239465"/>
              </a:xfrm>
              <a:prstGeom prst="rect">
                <a:avLst/>
              </a:prstGeom>
              <a:blipFill>
                <a:blip r:embed="rId2"/>
                <a:stretch>
                  <a:fillRect l="-863" t="-9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42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B5E1CD-8359-4F4D-BBCF-7E15C4231A76}"/>
              </a:ext>
            </a:extLst>
          </p:cNvPr>
          <p:cNvSpPr txBox="1"/>
          <p:nvPr/>
        </p:nvSpPr>
        <p:spPr>
          <a:xfrm>
            <a:off x="2520167" y="348734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ru-RU" sz="2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Численное решение методом Эйлера</a:t>
            </a:r>
            <a:endParaRPr lang="ru-RU" sz="2400" b="1" dirty="0">
              <a:solidFill>
                <a:srgbClr val="0000FF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D1B15F-2E77-44EB-9130-A92E3B65A1C1}"/>
                  </a:ext>
                </a:extLst>
              </p:cNvPr>
              <p:cNvSpPr txBox="1"/>
              <p:nvPr/>
            </p:nvSpPr>
            <p:spPr>
              <a:xfrm>
                <a:off x="637309" y="919405"/>
                <a:ext cx="10917382" cy="69805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Учтем, что средняя плотность лодки уменьшается со временем,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sz="20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            и действует сила сопротивления воды при движении лодки.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sz="2000" dirty="0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</a:t>
                </a:r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Чтобы записать расчетную схему метода Эйлера, дифференциальное уравнение второго порядка заменим двумя уравнениями первого порядка:</a:t>
                </a: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ru-RU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𝑔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ru-RU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sz="24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ru-RU" sz="2000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Тогда схема метода Эйлера:</a:t>
                </a:r>
              </a:p>
              <a:p>
                <a:pPr marL="2868613"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𝜏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𝑦𝑘</m:t>
                          </m:r>
                        </m:sub>
                      </m:sSub>
                    </m:oMath>
                  </m:oMathPara>
                </a14:m>
                <a:endParaRPr lang="ru-RU" sz="24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𝑦𝑘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𝑦𝑘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𝜏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  <m:f>
                            <m:f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–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𝑦𝑘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  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=0, 1, 2, …</m:t>
                      </m:r>
                    </m:oMath>
                  </m:oMathPara>
                </a14:m>
                <a:endParaRPr lang="ru-RU" sz="24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endParaRPr lang="ru-RU" sz="24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endParaRPr lang="ru-RU" sz="2000" dirty="0"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D1B15F-2E77-44EB-9130-A92E3B65A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09" y="919405"/>
                <a:ext cx="10917382" cy="6980501"/>
              </a:xfrm>
              <a:prstGeom prst="rect">
                <a:avLst/>
              </a:prstGeom>
              <a:blipFill>
                <a:blip r:embed="rId2"/>
                <a:stretch>
                  <a:fillRect l="-615" t="-262" r="-5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80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EC6913-2823-455A-B46F-36E0DFB39ED5}"/>
              </a:ext>
            </a:extLst>
          </p:cNvPr>
          <p:cNvSpPr txBox="1"/>
          <p:nvPr/>
        </p:nvSpPr>
        <p:spPr>
          <a:xfrm>
            <a:off x="304523" y="458956"/>
            <a:ext cx="1137156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6600CC"/>
                </a:solidFill>
                <a:latin typeface="Helvetica" panose="020B0604020202020204" pitchFamily="34" charset="0"/>
              </a:rPr>
              <a:t>Задание по Расчетной работе № 1_5</a:t>
            </a:r>
          </a:p>
          <a:p>
            <a:pPr algn="ctr"/>
            <a:endParaRPr lang="ru-RU" sz="20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1. С помощью пакета </a:t>
            </a:r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«</a:t>
            </a:r>
            <a:r>
              <a:rPr lang="en-US" sz="2000" dirty="0">
                <a:solidFill>
                  <a:srgbClr val="000000"/>
                </a:solidFill>
                <a:latin typeface="Helvetica" panose="020B0604020202020204" pitchFamily="34" charset="0"/>
              </a:rPr>
              <a:t>Wolfram Mathematica</a:t>
            </a:r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»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 решить задачу движения лодки без учета сопротивления воды аналитически. Построить график решения. </a:t>
            </a:r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Вычислить время всплытия и горизонтальное перемещение.</a:t>
            </a:r>
            <a:endParaRPr lang="ru-RU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2. Рассмотреть решения при различных значениях начальной горизонтальной скорости и плотности лодки. Результаты оформить в виде таблицы (в тетради):</a:t>
            </a:r>
          </a:p>
          <a:p>
            <a:endParaRPr lang="ru-RU" sz="20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endParaRPr lang="ru-RU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endParaRPr lang="ru-RU" sz="20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endParaRPr lang="ru-RU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endParaRPr lang="ru-RU" sz="20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endParaRPr lang="ru-RU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endParaRPr lang="en-US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pPr marL="457200" indent="-457200">
              <a:buAutoNum type="arabicPeriod" startAt="3"/>
            </a:pPr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Решить задачу с учетом сопротивления воды и изменения средней плотности лодки: </a:t>
            </a:r>
          </a:p>
          <a:p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       -- решить уравнения движения численно методом Эйлера;</a:t>
            </a:r>
          </a:p>
          <a:p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       -- результаты изобразить графически. </a:t>
            </a:r>
          </a:p>
          <a:p>
            <a:r>
              <a:rPr lang="ru-RU" sz="2000" dirty="0">
                <a:solidFill>
                  <a:srgbClr val="000000"/>
                </a:solidFill>
                <a:latin typeface="Helvetica" panose="020B0604020202020204" pitchFamily="34" charset="0"/>
              </a:rPr>
              <a:t>       -- рассмотреть решения при различных значениях начальной горизонтальной скорости и плотности лодки. Результаты оформить в виде таблицы </a:t>
            </a:r>
            <a:endParaRPr lang="ru-RU" sz="20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39D92EC7-90AA-4725-9981-FE79EFA605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5786225"/>
                  </p:ext>
                </p:extLst>
              </p:nvPr>
            </p:nvGraphicFramePr>
            <p:xfrm>
              <a:off x="304523" y="2796309"/>
              <a:ext cx="10840064" cy="15646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69612">
                      <a:extLst>
                        <a:ext uri="{9D8B030D-6E8A-4147-A177-3AD203B41FA5}">
                          <a16:colId xmlns:a16="http://schemas.microsoft.com/office/drawing/2014/main" val="2204689574"/>
                        </a:ext>
                      </a:extLst>
                    </a:gridCol>
                    <a:gridCol w="2612936">
                      <a:extLst>
                        <a:ext uri="{9D8B030D-6E8A-4147-A177-3AD203B41FA5}">
                          <a16:colId xmlns:a16="http://schemas.microsoft.com/office/drawing/2014/main" val="2639466217"/>
                        </a:ext>
                      </a:extLst>
                    </a:gridCol>
                    <a:gridCol w="2063123">
                      <a:extLst>
                        <a:ext uri="{9D8B030D-6E8A-4147-A177-3AD203B41FA5}">
                          <a16:colId xmlns:a16="http://schemas.microsoft.com/office/drawing/2014/main" val="510823270"/>
                        </a:ext>
                      </a:extLst>
                    </a:gridCol>
                    <a:gridCol w="2774434">
                      <a:extLst>
                        <a:ext uri="{9D8B030D-6E8A-4147-A177-3AD203B41FA5}">
                          <a16:colId xmlns:a16="http://schemas.microsoft.com/office/drawing/2014/main" val="307543400"/>
                        </a:ext>
                      </a:extLst>
                    </a:gridCol>
                    <a:gridCol w="2519959">
                      <a:extLst>
                        <a:ext uri="{9D8B030D-6E8A-4147-A177-3AD203B41FA5}">
                          <a16:colId xmlns:a16="http://schemas.microsoft.com/office/drawing/2014/main" val="18000898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Начальная скорость,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ru-RU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Плотность лодки,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𝛒</m:t>
                                  </m:r>
                                </m:e>
                                <m:sub>
                                  <m:r>
                                    <a:rPr lang="ru-RU" sz="2400" b="1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Время всплытия</a:t>
                          </a:r>
                          <a:r>
                            <a:rPr lang="en-US" sz="2400" dirty="0">
                              <a:effectLst/>
                            </a:rPr>
                            <a:t>,</a:t>
                          </a:r>
                          <a:endParaRPr lang="ru-RU" sz="24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en-US" sz="2400" dirty="0" err="1">
                              <a:effectLst/>
                            </a:rPr>
                            <a:t>t</a:t>
                          </a:r>
                          <a:r>
                            <a:rPr lang="en-US" sz="2400" baseline="-25000" dirty="0" err="1">
                              <a:effectLst/>
                            </a:rPr>
                            <a:t>k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Горизонтальное перемещение</a:t>
                          </a:r>
                          <a:r>
                            <a:rPr lang="en-US" sz="2400" dirty="0">
                              <a:effectLst/>
                            </a:rPr>
                            <a:t>, L</a:t>
                          </a:r>
                          <a:endParaRPr lang="ru-RU" sz="2400" dirty="0">
                            <a:effectLst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1012677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1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1775824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2…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198225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>
                <a:extLst>
                  <a:ext uri="{FF2B5EF4-FFF2-40B4-BE49-F238E27FC236}">
                    <a16:creationId xmlns:a16="http://schemas.microsoft.com/office/drawing/2014/main" id="{39D92EC7-90AA-4725-9981-FE79EFA605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5786225"/>
                  </p:ext>
                </p:extLst>
              </p:nvPr>
            </p:nvGraphicFramePr>
            <p:xfrm>
              <a:off x="304523" y="2796309"/>
              <a:ext cx="10840064" cy="156464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69612">
                      <a:extLst>
                        <a:ext uri="{9D8B030D-6E8A-4147-A177-3AD203B41FA5}">
                          <a16:colId xmlns:a16="http://schemas.microsoft.com/office/drawing/2014/main" val="2204689574"/>
                        </a:ext>
                      </a:extLst>
                    </a:gridCol>
                    <a:gridCol w="2612936">
                      <a:extLst>
                        <a:ext uri="{9D8B030D-6E8A-4147-A177-3AD203B41FA5}">
                          <a16:colId xmlns:a16="http://schemas.microsoft.com/office/drawing/2014/main" val="2639466217"/>
                        </a:ext>
                      </a:extLst>
                    </a:gridCol>
                    <a:gridCol w="2063123">
                      <a:extLst>
                        <a:ext uri="{9D8B030D-6E8A-4147-A177-3AD203B41FA5}">
                          <a16:colId xmlns:a16="http://schemas.microsoft.com/office/drawing/2014/main" val="510823270"/>
                        </a:ext>
                      </a:extLst>
                    </a:gridCol>
                    <a:gridCol w="2774434">
                      <a:extLst>
                        <a:ext uri="{9D8B030D-6E8A-4147-A177-3AD203B41FA5}">
                          <a16:colId xmlns:a16="http://schemas.microsoft.com/office/drawing/2014/main" val="307543400"/>
                        </a:ext>
                      </a:extLst>
                    </a:gridCol>
                    <a:gridCol w="2519959">
                      <a:extLst>
                        <a:ext uri="{9D8B030D-6E8A-4147-A177-3AD203B41FA5}">
                          <a16:colId xmlns:a16="http://schemas.microsoft.com/office/drawing/2014/main" val="1800089807"/>
                        </a:ext>
                      </a:extLst>
                    </a:gridCol>
                  </a:tblGrid>
                  <a:tr h="83312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3566" t="-10949" r="-282517" b="-110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69027" t="-10949" r="-257522" b="-110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Время всплытия</a:t>
                          </a:r>
                          <a:r>
                            <a:rPr lang="en-US" sz="2400" dirty="0">
                              <a:effectLst/>
                            </a:rPr>
                            <a:t>,</a:t>
                          </a:r>
                          <a:endParaRPr lang="ru-RU" sz="24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en-US" sz="2400" dirty="0" err="1">
                              <a:effectLst/>
                            </a:rPr>
                            <a:t>t</a:t>
                          </a:r>
                          <a:r>
                            <a:rPr lang="en-US" sz="2400" baseline="-25000" dirty="0" err="1">
                              <a:effectLst/>
                            </a:rPr>
                            <a:t>k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Горизонтальное перемещение</a:t>
                          </a:r>
                          <a:r>
                            <a:rPr lang="en-US" sz="2400" dirty="0">
                              <a:effectLst/>
                            </a:rPr>
                            <a:t>, L</a:t>
                          </a:r>
                          <a:endParaRPr lang="ru-RU" sz="2400" dirty="0">
                            <a:effectLst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1012677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1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1775824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2…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>
                              <a:effectLst/>
                            </a:rPr>
                            <a:t> </a:t>
                          </a:r>
                          <a:endParaRPr lang="ru-RU" sz="2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800"/>
                            </a:spcAft>
                          </a:pPr>
                          <a:r>
                            <a:rPr lang="ru-RU" sz="2400" dirty="0">
                              <a:effectLst/>
                            </a:rPr>
                            <a:t> </a:t>
                          </a:r>
                          <a:endParaRPr lang="ru-RU" sz="2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198225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02484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окумент&#10;&#10;Автоматически созданное описание">
            <a:extLst>
              <a:ext uri="{FF2B5EF4-FFF2-40B4-BE49-F238E27FC236}">
                <a16:creationId xmlns:a16="http://schemas.microsoft.com/office/drawing/2014/main" id="{D844E0EE-7F00-FDC7-6C4A-258126ABF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80" y="246743"/>
            <a:ext cx="10859295" cy="601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14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окумент&#10;&#10;Автоматически созданное описание">
            <a:extLst>
              <a:ext uri="{FF2B5EF4-FFF2-40B4-BE49-F238E27FC236}">
                <a16:creationId xmlns:a16="http://schemas.microsoft.com/office/drawing/2014/main" id="{AED117B2-D885-B3CB-28AA-AEA6CD019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34" y="251969"/>
            <a:ext cx="10431331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3637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613</Words>
  <Application>Microsoft Office PowerPoint</Application>
  <PresentationFormat>Широкоэкранный</PresentationFormat>
  <Paragraphs>88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Helvetica</vt:lpstr>
      <vt:lpstr>Times New Roman</vt:lpstr>
      <vt:lpstr>Тема Office</vt:lpstr>
      <vt:lpstr>Расчетная работа № 1-5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Няшин Максим Михайлович</cp:lastModifiedBy>
  <cp:revision>53</cp:revision>
  <dcterms:created xsi:type="dcterms:W3CDTF">2020-09-29T18:08:37Z</dcterms:created>
  <dcterms:modified xsi:type="dcterms:W3CDTF">2023-12-04T14:31:53Z</dcterms:modified>
</cp:coreProperties>
</file>