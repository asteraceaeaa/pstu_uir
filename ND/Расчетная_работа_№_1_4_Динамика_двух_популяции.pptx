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5" r:id="rId4"/>
    <p:sldId id="259" r:id="rId5"/>
    <p:sldId id="260" r:id="rId6"/>
    <p:sldId id="266" r:id="rId7"/>
    <p:sldId id="269" r:id="rId8"/>
    <p:sldId id="268" r:id="rId9"/>
    <p:sldId id="261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 varScale="1">
        <p:scale>
          <a:sx n="51" d="100"/>
          <a:sy n="51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C8C01-B142-4DAC-B78F-E84F72EB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2C429-0F6A-4619-B261-0A00F28AC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368AE-8743-4249-903E-3CBDCC39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83518-1D60-4A02-8FAD-7C5A7116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C8316-FF5B-457B-ACEB-D49B6D36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4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1DCF-1D15-4E90-9156-63C12035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88E5B-E337-4547-A2E9-0E579F91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957C5-4A26-48AA-881E-03765119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85269-C496-41EF-A8B5-CCDD2E72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57755-19F9-419A-8628-6D36D814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DAC6D-024B-4B5C-A4B9-7852EFD1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A44460-8A6E-4343-B46A-C3DDB686D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34909-113D-467A-9F53-29D578DF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89F3D-8C7E-4AAD-B7DE-D18D44A2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37705-8B23-461E-A9A1-70BA1E64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58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A126D-D6DE-4863-8D48-A21F71C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55CE8-FEE0-47C1-86AA-6DFCE00FE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869C6-9515-4411-8777-39D7A86D3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E80234-6732-4BBF-B683-5A8E8CE6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A5B2F-231E-464D-8FA8-B3D06508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26540-39B5-48DD-80A6-3D942141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13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66775-2A40-46B6-84FF-1E3C6171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926724-9405-4030-87AE-57C836BC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53AB78-9E23-45C5-8FB2-A8E46180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405B6D-8331-4CFE-9C8C-3D57C8ABA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F8FF9-C197-4A07-942A-0447FE30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0341D3-5E3F-423F-BC5F-B0C70289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7B61F3-E82B-49F3-B148-B98C1B37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765C16-8375-4BA7-B061-62F5B3E7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9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8683-7433-41C1-AEA1-9DF45CFD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25E0BC-9334-43CE-9222-03E40BA2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AF3938-CA7E-435D-85E3-09994939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4F7AD-44EE-49DA-8604-630812AD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70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7F00B-BF72-4259-9E47-62BE3F88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BE2CEE-5A61-49BD-93D6-2951AF72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BD6BE5-8BB9-4023-A689-2EBCAA7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79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D6E2F-5299-474B-9754-11D52344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EC61-7164-4F32-ADED-FB11BF4A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7E3065-DCE1-4BA2-884D-013BAAF71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05405A-83A9-46B7-B5C2-6ED49C10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BB5EF9-ABAD-49EE-8B35-A8E11EE7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3978ED-C0DF-4D45-8112-F5FF7D87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4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CFD61-1BAE-437F-85A7-2B599DC9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50B486-3818-4540-BC24-0F825757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FF2F85-C6A6-487E-BB1A-D72F00115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6B69C-85F5-4187-BADF-B2A63002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466CBB-3F64-48C0-9CF2-B8D78F93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F70B47-E708-4B8B-B6FA-0A202BC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9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C669B-C148-466D-984C-9247614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7CEE5C-DA73-421F-A7F2-498E5341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D9F3B-4548-4165-AC63-C7C95F21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0971AB-C32D-4668-80E2-6CCD80C0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709F6-AE7A-460C-A87A-1F2E086F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6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99D6B3-3683-4933-A560-17DC88D3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91E0E0-9D9A-40E6-9963-EF5FB4C4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335-33A7-44B2-B26F-3347F8A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8AFC8-32B9-4146-8605-51A6889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2BF18-98AC-4500-A7B7-7F1D40ED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05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1B487-32DE-4F17-BBFC-CFA10FA4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9DE7F5-C519-4B6E-89C2-A331BA47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9705-273A-4F2D-91AD-D6742F443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AF186-E2C8-4DF4-93FA-6FB35493C8A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A8D98-5836-4317-A7CF-B7FBC90FB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DF21C-306D-4A71-BF9E-421398AE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4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51677-05D6-4E3C-8379-CF29F3125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FF"/>
                </a:solidFill>
              </a:rPr>
              <a:t>Расчетная работа № 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8853FF-C89C-40A6-ABFB-6DEA3ED7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63876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Динамика двух популяций</a:t>
            </a:r>
          </a:p>
          <a:p>
            <a:r>
              <a:rPr lang="ru-RU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(Модель межвидового взаимодействия)</a:t>
            </a:r>
          </a:p>
        </p:txBody>
      </p:sp>
    </p:spTree>
    <p:extLst>
      <p:ext uri="{BB962C8B-B14F-4D97-AF65-F5344CB8AC3E}">
        <p14:creationId xmlns:p14="http://schemas.microsoft.com/office/powerpoint/2010/main" val="377985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8CB23F-8E8F-4FCF-93C4-9943FEF574C6}"/>
              </a:ext>
            </a:extLst>
          </p:cNvPr>
          <p:cNvSpPr txBox="1"/>
          <p:nvPr/>
        </p:nvSpPr>
        <p:spPr>
          <a:xfrm>
            <a:off x="593271" y="1221352"/>
            <a:ext cx="110054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Первая модель межвидового взаимодействия была модель, предложенная А. </a:t>
            </a:r>
            <a:r>
              <a:rPr lang="ru-RU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Лоткой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в 1925 г. В 1926 г, независимо от Лотки, аналогичные и более сложные модели были разработаны итальянским математиком Вито Вольтеррой. Его исследования в области экологических проблем создали основу современной математической теории биологических сообществ</a:t>
            </a:r>
          </a:p>
        </p:txBody>
      </p:sp>
    </p:spTree>
    <p:extLst>
      <p:ext uri="{BB962C8B-B14F-4D97-AF65-F5344CB8AC3E}">
        <p14:creationId xmlns:p14="http://schemas.microsoft.com/office/powerpoint/2010/main" val="352722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Номер слайда 20">
            <a:extLst>
              <a:ext uri="{FF2B5EF4-FFF2-40B4-BE49-F238E27FC236}">
                <a16:creationId xmlns:a16="http://schemas.microsoft.com/office/drawing/2014/main" id="{BE101006-45F4-41B6-8E9F-F73B0001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265B5-A376-429C-A96E-94A584D6359A}" type="slidenum">
              <a:rPr lang="ru-RU" altLang="ru-RU"/>
              <a:pPr eaLnBrk="1" hangingPunct="1"/>
              <a:t>3</a:t>
            </a:fld>
            <a:endParaRPr lang="ru-RU" alt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B6A671-2C4C-4F1A-BF40-FA6B29A801AD}"/>
              </a:ext>
            </a:extLst>
          </p:cNvPr>
          <p:cNvSpPr txBox="1"/>
          <p:nvPr/>
        </p:nvSpPr>
        <p:spPr>
          <a:xfrm>
            <a:off x="616974" y="476182"/>
            <a:ext cx="10958052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b="1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Концептуальная постановка. Гипотезы Вольтерра 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Пища либо имеется в неограниченном количестве, либо ее поступление с течением времени жестко регламентировано.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Особи каждого вида отмирают так, что в единицу времени погибает постоянная доля существующих особей.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21DE5D-5B91-4FC2-9E94-4955653CF5E8}"/>
              </a:ext>
            </a:extLst>
          </p:cNvPr>
          <p:cNvSpPr txBox="1"/>
          <p:nvPr/>
        </p:nvSpPr>
        <p:spPr>
          <a:xfrm>
            <a:off x="616973" y="3429000"/>
            <a:ext cx="107368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4. Если имеется пища в ограниченном количестве и несколько видов, которые способны ее потреблять, то доля пищи, потребляемой видом в единицу времени, пропорциональна количеству особей этого вида, взятому с некоторым коэффициентом, зависящим от вида (модели межвидовой конкуренции).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787EC-BD7C-4538-AE0E-B67BD8DD8D83}"/>
              </a:ext>
            </a:extLst>
          </p:cNvPr>
          <p:cNvSpPr txBox="1"/>
          <p:nvPr/>
        </p:nvSpPr>
        <p:spPr>
          <a:xfrm>
            <a:off x="616973" y="2327303"/>
            <a:ext cx="10736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3. Хищные виды поедают жертв, причем в единицу времени количество съеденных жертв всегда пропорционально вероятности встречи особей этих двух видов, т. е. произведению количества хищников на количество жертв.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048BA-7C78-4317-8B54-7B5587C267F0}"/>
              </a:ext>
            </a:extLst>
          </p:cNvPr>
          <p:cNvSpPr txBox="1"/>
          <p:nvPr/>
        </p:nvSpPr>
        <p:spPr>
          <a:xfrm>
            <a:off x="524445" y="4924507"/>
            <a:ext cx="10589869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Если вид питается пищей, имеющейся в неограниченном количестве, прирост численности вида в единицу времени пропорционален численности вида.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Если вид питается пищей, имеющейся в ограниченном количестве, то его размножение регулируется скоростью потребления пищи, т. е. за единицу времени прирост пропорционален количеству съеденной пищи.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88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3246F202-6995-43B4-AFC9-8EC4A20E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Математическая постановка: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/>
              <p:nvPr/>
            </p:nvSpPr>
            <p:spPr>
              <a:xfrm>
                <a:off x="870156" y="1103796"/>
                <a:ext cx="10951730" cy="5762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1" dirty="0">
                    <a:solidFill>
                      <a:srgbClr val="66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Уравнения Лотки - Вольтерра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–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ru-R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–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endParaRPr lang="ru-RU" sz="2000" i="1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х</a:t>
                </a:r>
                <a:r>
                  <a:rPr lang="ru-RU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), у </a:t>
                </a: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)– 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численности популяции в момент времени 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ru-RU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ru-RU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константы собственной скорости роста видов, </a:t>
                </a:r>
              </a:p>
              <a:p>
                <a:r>
                  <a:rPr lang="ru-RU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ru-RU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константы самоограничения численности (внутривидовой конкуренции), </a:t>
                </a:r>
              </a:p>
              <a:p>
                <a:r>
                  <a:rPr lang="ru-RU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ru-RU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константы взаимодействия видов, (i, j=1, 2) Знаки этих коэффициентов определяют тип взаимодействия</a:t>
                </a:r>
              </a:p>
              <a:p>
                <a:pPr algn="just">
                  <a:spcAft>
                    <a:spcPts val="800"/>
                  </a:spcAft>
                </a:pP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Начальные условия:</a:t>
                </a: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  у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у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0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56" y="1103796"/>
                <a:ext cx="10951730" cy="5762603"/>
              </a:xfrm>
              <a:prstGeom prst="rect">
                <a:avLst/>
              </a:prstGeom>
              <a:blipFill>
                <a:blip r:embed="rId2"/>
                <a:stretch>
                  <a:fillRect l="-612" t="-4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38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B7BE91-2B33-49D4-A570-CC0DCD628DD2}"/>
              </a:ext>
            </a:extLst>
          </p:cNvPr>
          <p:cNvSpPr txBox="1"/>
          <p:nvPr/>
        </p:nvSpPr>
        <p:spPr>
          <a:xfrm>
            <a:off x="604684" y="464757"/>
            <a:ext cx="11297264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Виды взаимодействия двух популяций</a:t>
            </a:r>
            <a:endParaRPr lang="ru-RU" sz="2800" b="1" dirty="0">
              <a:solidFill>
                <a:srgbClr val="0000F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Симбиоз – форма взаимодействия между организмами разных видов.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       Мутуализм (++) –Обоюдовыгодный вид симбиоза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Коменсализм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(+0) – отношения выгодные одному виду и безразличные другому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Аменсализм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(–0) – отношения вредные одному виду и безразличные другому.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Конкуренция (– –) – борьба двух видов за определенны ресурс</a:t>
            </a:r>
          </a:p>
          <a:p>
            <a:pPr lvl="0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«Хищник – жертва» (+–) – тип взаимодействия,  при котором один вид питается другим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42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8C947B-A96A-4E0C-85C1-544BED8866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1357" y="865414"/>
            <a:ext cx="10287000" cy="42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0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B3DB0-3FC8-48DB-BD0F-50E0DA6A1B9F}"/>
              </a:ext>
            </a:extLst>
          </p:cNvPr>
          <p:cNvSpPr txBox="1"/>
          <p:nvPr/>
        </p:nvSpPr>
        <p:spPr>
          <a:xfrm>
            <a:off x="587828" y="340975"/>
            <a:ext cx="11604171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800" b="1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Анализ результатов</a:t>
            </a:r>
          </a:p>
          <a:p>
            <a:pPr algn="ctr"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x(t), y(t) – графики решений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Фазовая плоскость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Плоскость всех точек M(x, y) называется фазовой плоскостью и изображает совокупность всех состояний системы.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Совокупность точек M(x(t), y(t)) на фазовой плоскости, положение которых соответствует состояниям системы в процессе изменения во времени переменных x(t), y(t) согласно уравнениям системы, называется фазовой траекторией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Совокупность фазовых траекторий при различных начальных значениях переменных дает фазовый портрет системы 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Для изображения фазового портрета необходимо построить векторное поле направлений траекторий системы в каждой точке фазовой плоскости.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7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C6913-2823-455A-B46F-36E0DFB39ED5}"/>
              </a:ext>
            </a:extLst>
          </p:cNvPr>
          <p:cNvSpPr txBox="1"/>
          <p:nvPr/>
        </p:nvSpPr>
        <p:spPr>
          <a:xfrm>
            <a:off x="304523" y="458956"/>
            <a:ext cx="113715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Задание по Расчетной работе № 4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 помощью пакета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Wolfram Mathematica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модели Лотки - Вольтерра записать алгоритм численного решения задачи методом Эйлера.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Подобрать различные значения параметров, чтобы описать различные виды межвидового взаимодействия (см. таблицу)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Построить график решений изменения численности популяций в зависимости от времени для всех типов межвидового взаимодействия.</a:t>
            </a: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Построить фазовые портреты решений для всех типов взаимодействия.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291874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B32E4354-BA69-1C07-CBF5-CF665D9D5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223390"/>
            <a:ext cx="590576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6DBBF6B9-8FF4-7C96-C449-7A85DC018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34" y="1138138"/>
            <a:ext cx="8286416" cy="17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353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587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Тема Office</vt:lpstr>
      <vt:lpstr>Расчетная работа № 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Няшин Максим Михайлович</cp:lastModifiedBy>
  <cp:revision>36</cp:revision>
  <dcterms:created xsi:type="dcterms:W3CDTF">2020-09-29T18:08:37Z</dcterms:created>
  <dcterms:modified xsi:type="dcterms:W3CDTF">2024-11-21T19:43:11Z</dcterms:modified>
</cp:coreProperties>
</file>